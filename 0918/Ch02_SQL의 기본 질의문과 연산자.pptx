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3" r:id="rId1"/>
  </p:sldMasterIdLst>
  <p:notesMasterIdLst>
    <p:notesMasterId r:id="rId49"/>
  </p:notesMasterIdLst>
  <p:handoutMasterIdLst>
    <p:handoutMasterId r:id="rId50"/>
  </p:handoutMasterIdLst>
  <p:sldIdLst>
    <p:sldId id="256" r:id="rId2"/>
    <p:sldId id="257" r:id="rId3"/>
    <p:sldId id="258" r:id="rId4"/>
    <p:sldId id="259" r:id="rId5"/>
    <p:sldId id="1012" r:id="rId6"/>
    <p:sldId id="260" r:id="rId7"/>
    <p:sldId id="1013" r:id="rId8"/>
    <p:sldId id="1014" r:id="rId9"/>
    <p:sldId id="1015" r:id="rId10"/>
    <p:sldId id="1016" r:id="rId11"/>
    <p:sldId id="1018" r:id="rId12"/>
    <p:sldId id="1017" r:id="rId13"/>
    <p:sldId id="1019" r:id="rId14"/>
    <p:sldId id="1020" r:id="rId15"/>
    <p:sldId id="1021" r:id="rId16"/>
    <p:sldId id="1022" r:id="rId17"/>
    <p:sldId id="1023" r:id="rId18"/>
    <p:sldId id="1024" r:id="rId19"/>
    <p:sldId id="326" r:id="rId20"/>
    <p:sldId id="1025" r:id="rId21"/>
    <p:sldId id="1026" r:id="rId22"/>
    <p:sldId id="1027" r:id="rId23"/>
    <p:sldId id="1028" r:id="rId24"/>
    <p:sldId id="1029" r:id="rId25"/>
    <p:sldId id="1030" r:id="rId26"/>
    <p:sldId id="1031" r:id="rId27"/>
    <p:sldId id="1032" r:id="rId28"/>
    <p:sldId id="1033" r:id="rId29"/>
    <p:sldId id="1034" r:id="rId30"/>
    <p:sldId id="1035" r:id="rId31"/>
    <p:sldId id="1036" r:id="rId32"/>
    <p:sldId id="1037" r:id="rId33"/>
    <p:sldId id="1038" r:id="rId34"/>
    <p:sldId id="1039" r:id="rId35"/>
    <p:sldId id="1040" r:id="rId36"/>
    <p:sldId id="1041" r:id="rId37"/>
    <p:sldId id="1042" r:id="rId38"/>
    <p:sldId id="1043" r:id="rId39"/>
    <p:sldId id="1044" r:id="rId40"/>
    <p:sldId id="1045" r:id="rId41"/>
    <p:sldId id="1046" r:id="rId42"/>
    <p:sldId id="1047" r:id="rId43"/>
    <p:sldId id="1048" r:id="rId44"/>
    <p:sldId id="1049" r:id="rId45"/>
    <p:sldId id="1050" r:id="rId46"/>
    <p:sldId id="1051" r:id="rId47"/>
    <p:sldId id="282" r:id="rId4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5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miga" initials="a" lastIdx="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496"/>
    <a:srgbClr val="0082C6"/>
    <a:srgbClr val="0095DA"/>
    <a:srgbClr val="00C0AE"/>
    <a:srgbClr val="007A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920" autoAdjust="0"/>
    <p:restoredTop sz="86545" autoAdjust="0"/>
  </p:normalViewPr>
  <p:slideViewPr>
    <p:cSldViewPr>
      <p:cViewPr varScale="1">
        <p:scale>
          <a:sx n="108" d="100"/>
          <a:sy n="108" d="100"/>
        </p:scale>
        <p:origin x="1896" y="102"/>
      </p:cViewPr>
      <p:guideLst>
        <p:guide orient="horz" pos="2160"/>
        <p:guide pos="375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-3822" y="-72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C87C3E9-2372-4D2D-A8FE-578D26F0CAB8}" type="datetime1">
              <a:rPr lang="ko-KR" altLang="en-US"/>
              <a:pPr lvl="0">
                <a:defRPr/>
              </a:pPr>
              <a:t>2024-03-08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8D2126D6-8CEA-47E8-B467-8C3047BBCAC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91952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05BC3899-2E4F-4D3A-8D29-BF4BDDE21DE2}" type="datetime1">
              <a:rPr lang="ko-KR" altLang="en-US"/>
              <a:pPr lvl="0">
                <a:defRPr/>
              </a:pPr>
              <a:t>2024-03-08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89363BF-43B7-4F43-ABD0-D052F59FCD18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35413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89363BF-43B7-4F43-ABD0-D052F59FCD18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075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0" y="-1216"/>
            <a:ext cx="9144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7" name="모서리가 둥근 직사각형 4"/>
          <p:cNvSpPr/>
          <p:nvPr userDrawn="1"/>
        </p:nvSpPr>
        <p:spPr>
          <a:xfrm>
            <a:off x="319088" y="404813"/>
            <a:ext cx="8497887" cy="6048375"/>
          </a:xfrm>
          <a:prstGeom prst="roundRect">
            <a:avLst>
              <a:gd name="adj" fmla="val 4629"/>
            </a:avLst>
          </a:prstGeom>
          <a:solidFill>
            <a:schemeClr val="lt1"/>
          </a:solidFill>
          <a:ln w="53975">
            <a:solidFill>
              <a:srgbClr val="0095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16CA19A-51D8-9251-A97D-2C6F9EBABB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72201" y="4766995"/>
            <a:ext cx="2296013" cy="158989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69EAE1A-F232-F70D-A002-581DA434C95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45650" y="2091005"/>
            <a:ext cx="3652699" cy="2337037"/>
          </a:xfrm>
          <a:prstGeom prst="rect">
            <a:avLst/>
          </a:prstGeom>
        </p:spPr>
      </p:pic>
      <p:pic>
        <p:nvPicPr>
          <p:cNvPr id="5" name="Picture 4" descr="C:\Users\김현용\Desktop\제호.jpg">
            <a:extLst>
              <a:ext uri="{FF2B5EF4-FFF2-40B4-BE49-F238E27FC236}">
                <a16:creationId xmlns:a16="http://schemas.microsoft.com/office/drawing/2014/main" id="{D23FF181-807E-1AE6-E2A0-8C86581C76A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373" y="6118343"/>
            <a:ext cx="1431255" cy="238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사용자 지정 레이아웃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4B2FD9B6-DC5A-4644-B01F-335E6DD2CDD1}" type="datetime1">
              <a:rPr lang="ko-KR" altLang="en-US"/>
              <a:pPr lvl="0">
                <a:defRPr/>
              </a:pPr>
              <a:t>2024-03-08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6BC740F2-65F4-46F1-8462-F5CEAE10BBF6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FBCE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kumimoji="1" lang="ko-KR" altLang="en-US" sz="1800" b="0" i="0" u="none" strike="noStrike" kern="1200" baseline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E7562E"/>
          </a:solidFill>
          <a:ln>
            <a:solidFill>
              <a:schemeClr val="accent2"/>
            </a:solidFill>
          </a:ln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9pPr>
          </a:lstStyle>
          <a:p>
            <a:pPr algn="ctr" eaLnBrk="1" hangingPunct="1">
              <a:spcBef>
                <a:spcPct val="20000"/>
              </a:spcBef>
              <a:defRPr/>
            </a:pPr>
            <a:endParaRPr lang="ko-KR" altLang="en-US" sz="3200">
              <a:solidFill>
                <a:srgbClr val="481C10"/>
              </a:solidFill>
              <a:ea typeface="맑은 고딕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279526" y="4726538"/>
            <a:ext cx="2324100" cy="211455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9" name="Picture 3"/>
          <p:cNvPicPr>
            <a:picLocks noChangeAspect="1" noChangeArrowheads="1"/>
          </p:cNvPicPr>
          <p:nvPr userDrawn="1"/>
        </p:nvPicPr>
        <p:blipFill rotWithShape="1">
          <a:blip r:embed="rId3"/>
          <a:srcRect/>
          <a:stretch>
            <a:fillRect/>
          </a:stretch>
        </p:blipFill>
        <p:spPr>
          <a:xfrm rot="319573">
            <a:off x="680756" y="4293096"/>
            <a:ext cx="506868" cy="51253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사용자 지정 레이아웃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4B2FD9B6-DC5A-4644-B01F-335E6DD2CDD1}" type="datetime1">
              <a:rPr lang="ko-KR" altLang="en-US"/>
              <a:pPr lvl="0">
                <a:defRPr/>
              </a:pPr>
              <a:t>2024-03-08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6BC740F2-65F4-46F1-8462-F5CEAE10BBF6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kumimoji="1" lang="ko-KR" altLang="en-US" sz="1800" b="0" i="0" u="none" strike="noStrike" kern="1200" baseline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0095DA"/>
          </a:solidFill>
          <a:ln>
            <a:noFill/>
          </a:ln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9pPr>
          </a:lstStyle>
          <a:p>
            <a:pPr algn="ctr" eaLnBrk="1" hangingPunct="1">
              <a:spcBef>
                <a:spcPct val="20000"/>
              </a:spcBef>
              <a:defRPr/>
            </a:pPr>
            <a:endParaRPr lang="ko-KR" altLang="en-US" sz="3200">
              <a:solidFill>
                <a:srgbClr val="481C10"/>
              </a:solidFill>
              <a:ea typeface="맑은 고딕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AD28631-B9BB-AF47-A267-485B38AF74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83991" y="4498177"/>
            <a:ext cx="3122100" cy="2161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968810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사용자 지정 레이아웃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b="0" spc="-150" baseline="0" dirty="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82C6"/>
                </a:solidFill>
                <a:effectLst/>
                <a:latin typeface="HY견고딕"/>
                <a:ea typeface="HY견고딕"/>
                <a:cs typeface="Tahoma"/>
              </a:rPr>
              <a:t>목차</a:t>
            </a:r>
            <a:endParaRPr kumimoji="0" lang="ko-KR" altLang="en-US" sz="4400" b="0" spc="-150" baseline="0" dirty="0">
              <a:solidFill>
                <a:srgbClr val="0082C6"/>
              </a:solidFill>
              <a:latin typeface="HY견고딕"/>
              <a:ea typeface="HY견고딕"/>
              <a:cs typeface="Tahoma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+mj-lt"/>
              <a:buAutoNum type="arabicPeriod"/>
              <a:defRPr sz="2000" b="1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9" name="모서리가 둥근 직사각형 4"/>
          <p:cNvSpPr/>
          <p:nvPr userDrawn="1"/>
        </p:nvSpPr>
        <p:spPr>
          <a:xfrm>
            <a:off x="319088" y="404813"/>
            <a:ext cx="8497887" cy="6048375"/>
          </a:xfrm>
          <a:prstGeom prst="roundRect">
            <a:avLst>
              <a:gd name="adj" fmla="val 4629"/>
            </a:avLst>
          </a:prstGeom>
          <a:noFill/>
          <a:ln w="53975">
            <a:solidFill>
              <a:srgbClr val="0095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_사용자 지정 레이아웃" preserve="1" userDrawn="1">
  <p:cSld name="1_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b="0" kern="1200" spc="-150" baseline="0" dirty="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82C6"/>
                </a:solidFill>
                <a:effectLst/>
                <a:latin typeface="HY견고딕"/>
                <a:ea typeface="HY견고딕"/>
                <a:cs typeface="Tahoma"/>
              </a:rPr>
              <a:t>학습목표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Arial"/>
              <a:buChar char="•"/>
              <a:defRPr sz="2000" b="1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9" name="모서리가 둥근 직사각형 4"/>
          <p:cNvSpPr/>
          <p:nvPr userDrawn="1"/>
        </p:nvSpPr>
        <p:spPr>
          <a:xfrm>
            <a:off x="319088" y="404813"/>
            <a:ext cx="8497887" cy="6048375"/>
          </a:xfrm>
          <a:prstGeom prst="roundRect">
            <a:avLst>
              <a:gd name="adj" fmla="val 4629"/>
            </a:avLst>
          </a:prstGeom>
          <a:noFill/>
          <a:ln w="53975">
            <a:solidFill>
              <a:srgbClr val="0095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solidFill>
            <a:srgbClr val="75BEEA"/>
          </a:solidFill>
          <a:ln w="53975">
            <a:solidFill>
              <a:srgbClr val="F271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sp>
        <p:nvSpPr>
          <p:cNvPr id="2" name="모서리가 둥근 직사각형 1"/>
          <p:cNvSpPr/>
          <p:nvPr userDrawn="1"/>
        </p:nvSpPr>
        <p:spPr>
          <a:xfrm>
            <a:off x="667203" y="586172"/>
            <a:ext cx="1112851" cy="35706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rgbClr val="96CFAC"/>
              </a:solidFill>
            </a:endParaRPr>
          </a:p>
        </p:txBody>
      </p:sp>
      <p:sp>
        <p:nvSpPr>
          <p:cNvPr id="9" name="TextBox 9"/>
          <p:cNvSpPr txBox="1"/>
          <p:nvPr userDrawn="1"/>
        </p:nvSpPr>
        <p:spPr>
          <a:xfrm>
            <a:off x="683568" y="573063"/>
            <a:ext cx="1080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8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27179"/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Preview</a:t>
            </a:r>
            <a:endParaRPr kumimoji="0" lang="ko-KR" altLang="en-US" sz="1800" spc="-1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27179"/>
              </a:solidFill>
              <a:effectLst/>
              <a:latin typeface="HY견고딕" pitchFamily="18" charset="-127"/>
              <a:ea typeface="HY견고딕" pitchFamily="18" charset="-127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687555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사용자 지정 레이아웃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/>
          <p:cNvSpPr>
            <a:spLocks noGrp="1"/>
          </p:cNvSpPr>
          <p:nvPr userDrawn="1"/>
        </p:nvSpPr>
        <p:spPr>
          <a:xfrm>
            <a:off x="719101" y="3412604"/>
            <a:ext cx="7704856" cy="938937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8" name="텍스트 개체 틀 6"/>
          <p:cNvSpPr>
            <a:spLocks noGrp="1"/>
          </p:cNvSpPr>
          <p:nvPr userDrawn="1"/>
        </p:nvSpPr>
        <p:spPr>
          <a:xfrm>
            <a:off x="719101" y="2348880"/>
            <a:ext cx="7704856" cy="938937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9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19572" y="3412604"/>
            <a:ext cx="7704856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4800" b="1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0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719572" y="2348880"/>
            <a:ext cx="7704856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5400" b="1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1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rgbClr val="0095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rgbClr val="9A5F3A"/>
              </a:solidFill>
            </a:endParaRPr>
          </a:p>
        </p:txBody>
      </p:sp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본문" userDrawn="1">
  <p:cSld name="7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3"/>
          <p:cNvSpPr>
            <a:spLocks noChangeArrowheads="1"/>
          </p:cNvSpPr>
          <p:nvPr/>
        </p:nvSpPr>
        <p:spPr bwMode="gray">
          <a:xfrm>
            <a:off x="8410574" y="6643688"/>
            <a:ext cx="733425" cy="2159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bg1">
                  <a:lumMod val="75000"/>
                  <a:tint val="23500"/>
                  <a:satMod val="160000"/>
                  <a:alpha val="0"/>
                </a:schemeClr>
              </a:gs>
            </a:gsLst>
            <a:lin ang="10800000" scaled="1"/>
            <a:tileRect/>
          </a:gradFill>
          <a:ln w="9525">
            <a:noFill/>
            <a:miter/>
          </a:ln>
        </p:spPr>
        <p:txBody>
          <a:bodyPr wrap="none" anchor="ctr"/>
          <a:lstStyle/>
          <a:p>
            <a:pPr latinLnBrk="0">
              <a:defRPr/>
            </a:pPr>
            <a:endParaRPr kumimoji="0" lang="ko-KR" altLang="en-US" sz="3000">
              <a:solidFill>
                <a:srgbClr val="005E5C"/>
              </a:solidFill>
              <a:latin typeface="맑은 고딕"/>
              <a:ea typeface="맑은 고딕"/>
              <a:cs typeface="+mj-cs"/>
            </a:endParaRPr>
          </a:p>
        </p:txBody>
      </p:sp>
      <p:sp>
        <p:nvSpPr>
          <p:cNvPr id="9" name="Rectangle 18"/>
          <p:cNvSpPr>
            <a:spLocks noChangeArrowheads="1"/>
          </p:cNvSpPr>
          <p:nvPr/>
        </p:nvSpPr>
        <p:spPr>
          <a:xfrm>
            <a:off x="8279259" y="6605588"/>
            <a:ext cx="842962" cy="214312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/>
          <a:p>
            <a:pPr algn="r">
              <a:defRPr/>
            </a:pPr>
            <a:fld id="{048473F8-2F3F-4CC2-BF55-F7E080802650}" type="slidenum">
              <a:rPr lang="ko-KR" altLang="en-US" sz="120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/>
                <a:ea typeface="맑은 고딕"/>
                <a:cs typeface="+mj-cs"/>
              </a:rPr>
              <a:pPr algn="r">
                <a:defRPr/>
              </a:pPr>
              <a:t>‹#›</a:t>
            </a:fld>
            <a:r>
              <a:rPr lang="ko-KR" altLang="en-US" sz="12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/>
                <a:ea typeface="맑은 고딕"/>
                <a:cs typeface="+mj-cs"/>
              </a:rPr>
              <a:t> </a:t>
            </a:r>
            <a:r>
              <a:rPr lang="en-US" altLang="ko-KR" sz="12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/>
                <a:ea typeface="맑은 고딕"/>
                <a:cs typeface="+mj-cs"/>
              </a:rPr>
              <a:t>/ 47</a:t>
            </a:r>
          </a:p>
        </p:txBody>
      </p:sp>
      <p:sp>
        <p:nvSpPr>
          <p:cNvPr id="17" name="제목 9"/>
          <p:cNvSpPr>
            <a:spLocks noGrp="1"/>
          </p:cNvSpPr>
          <p:nvPr>
            <p:ph type="title"/>
          </p:nvPr>
        </p:nvSpPr>
        <p:spPr>
          <a:xfrm>
            <a:off x="288526" y="35744"/>
            <a:ext cx="7785100" cy="474662"/>
          </a:xfrm>
        </p:spPr>
        <p:txBody>
          <a:bodyPr>
            <a:noAutofit/>
          </a:bodyPr>
          <a:lstStyle>
            <a:lvl1pPr algn="l">
              <a:defRPr sz="2000" b="1" spc="-100" baseline="0">
                <a:solidFill>
                  <a:srgbClr val="0082C6"/>
                </a:solidFill>
                <a:effectLst>
                  <a:glow>
                    <a:schemeClr val="tx1"/>
                  </a:glow>
                </a:effectLst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7" name="Rectangle 440"/>
          <p:cNvSpPr>
            <a:spLocks noChangeArrowheads="1"/>
          </p:cNvSpPr>
          <p:nvPr userDrawn="1"/>
        </p:nvSpPr>
        <p:spPr bwMode="invGray">
          <a:xfrm flipV="1">
            <a:off x="0" y="533399"/>
            <a:ext cx="9144000" cy="45719"/>
          </a:xfrm>
          <a:prstGeom prst="rect">
            <a:avLst/>
          </a:prstGeom>
          <a:solidFill>
            <a:srgbClr val="0095DA"/>
          </a:solidFill>
          <a:ln w="22225" algn="ctr">
            <a:noFill/>
            <a:miter/>
          </a:ln>
          <a:effectLst/>
        </p:spPr>
        <p:txBody>
          <a:bodyPr wrap="none" anchor="ctr"/>
          <a:lstStyle/>
          <a:p>
            <a:pPr lvl="0" algn="ctr">
              <a:spcBef>
                <a:spcPct val="20000"/>
              </a:spcBef>
              <a:defRPr/>
            </a:pPr>
            <a:endParaRPr lang="ko-KR" altLang="en-US" sz="3200">
              <a:solidFill>
                <a:srgbClr val="481C10"/>
              </a:solidFill>
              <a:latin typeface="맑은 고딕"/>
              <a:ea typeface="맑은 고딕"/>
              <a:cs typeface="+mj-cs"/>
            </a:endParaRPr>
          </a:p>
        </p:txBody>
      </p:sp>
      <p:sp>
        <p:nvSpPr>
          <p:cNvPr id="10" name="텍스트 개체 틀 2"/>
          <p:cNvSpPr>
            <a:spLocks noGrp="1"/>
          </p:cNvSpPr>
          <p:nvPr>
            <p:ph idx="1" hasCustomPrompt="1"/>
          </p:nvPr>
        </p:nvSpPr>
        <p:spPr>
          <a:xfrm>
            <a:off x="611561" y="774420"/>
            <a:ext cx="8280919" cy="562491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57040" indent="-25704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82C6"/>
              </a:buClr>
              <a:buSzPct val="100000"/>
              <a:buFont typeface="한컴바탕"/>
              <a:buChar char="■"/>
              <a:defRPr sz="1800">
                <a:solidFill>
                  <a:srgbClr val="000000"/>
                </a:solidFill>
              </a:defRPr>
            </a:lvl1pPr>
            <a:lvl2pPr marL="685680" indent="-228480">
              <a:lnSpc>
                <a:spcPct val="150000"/>
              </a:lnSpc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</a:defRPr>
            </a:lvl2pPr>
            <a:lvl3pPr marL="1200150" indent="-285750">
              <a:lnSpc>
                <a:spcPct val="150000"/>
              </a:lnSpc>
              <a:buFont typeface="Wingdings" panose="05000000000000000000" pitchFamily="2" charset="2"/>
              <a:buChar char="ü"/>
              <a:defRPr sz="1400">
                <a:solidFill>
                  <a:srgbClr val="000000"/>
                </a:solidFill>
              </a:defRPr>
            </a:lvl3pPr>
          </a:lstStyle>
          <a:p>
            <a:pPr lvl="0">
              <a:defRPr/>
            </a:pPr>
            <a:r>
              <a:rPr lang="ko-KR" altLang="en-US" dirty="0"/>
              <a:t> 마스터 텍스트 스타일을 편집합니다</a:t>
            </a:r>
          </a:p>
          <a:p>
            <a:pPr lvl="1">
              <a:defRPr/>
            </a:pPr>
            <a:r>
              <a:rPr lang="ko-KR" altLang="en-US" dirty="0"/>
              <a:t> 둘째 수준</a:t>
            </a:r>
          </a:p>
          <a:p>
            <a:pPr lvl="2">
              <a:defRPr/>
            </a:pPr>
            <a:r>
              <a:rPr lang="ko-KR" altLang="en-US" dirty="0"/>
              <a:t>셋째 수준</a:t>
            </a:r>
          </a:p>
        </p:txBody>
      </p:sp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684076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124744" y="908051"/>
            <a:ext cx="2339752" cy="0"/>
          </a:xfrm>
          <a:prstGeom prst="line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4464496" y="908051"/>
            <a:ext cx="2339752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6804248" y="908051"/>
            <a:ext cx="2339752" cy="0"/>
          </a:xfrm>
          <a:prstGeom prst="line">
            <a:avLst/>
          </a:prstGeom>
          <a:ln w="762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0" y="908051"/>
            <a:ext cx="2339752" cy="0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00A496"/>
              </a:buClr>
              <a:buFont typeface="Wingdings" pitchFamily="2" charset="2"/>
              <a:buChar char="n"/>
              <a:defRPr sz="18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6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400"/>
            </a:lvl3pPr>
            <a:lvl4pPr marL="809625" indent="-180975">
              <a:spcAft>
                <a:spcPts val="300"/>
              </a:spcAft>
              <a:buSzPct val="96000"/>
              <a:defRPr sz="1200"/>
            </a:lvl4pPr>
            <a:lvl5pPr marL="990600" indent="-180975"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12327502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본문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440"/>
          <p:cNvSpPr>
            <a:spLocks noChangeArrowheads="1"/>
          </p:cNvSpPr>
          <p:nvPr/>
        </p:nvSpPr>
        <p:spPr bwMode="invGray">
          <a:xfrm>
            <a:off x="0" y="548506"/>
            <a:ext cx="9162510" cy="4571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22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lvl="0" algn="ctr">
              <a:spcBef>
                <a:spcPct val="20000"/>
              </a:spcBef>
            </a:pPr>
            <a:endParaRPr lang="ko-KR" altLang="en-US" sz="3200" dirty="0">
              <a:solidFill>
                <a:srgbClr val="481C1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Rectangle 43"/>
          <p:cNvSpPr>
            <a:spLocks noChangeArrowheads="1"/>
          </p:cNvSpPr>
          <p:nvPr/>
        </p:nvSpPr>
        <p:spPr bwMode="gray">
          <a:xfrm>
            <a:off x="8410574" y="6643688"/>
            <a:ext cx="733425" cy="2159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bg1">
                  <a:lumMod val="75000"/>
                  <a:tint val="23500"/>
                  <a:satMod val="160000"/>
                  <a:alpha val="0"/>
                </a:schemeClr>
              </a:gs>
            </a:gsLst>
            <a:lin ang="1080000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latinLnBrk="0">
              <a:defRPr/>
            </a:pPr>
            <a:endParaRPr kumimoji="0" lang="ko-KR" altLang="en-US" sz="3000" dirty="0">
              <a:solidFill>
                <a:srgbClr val="005E5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Rectangle 18"/>
          <p:cNvSpPr>
            <a:spLocks noChangeArrowheads="1"/>
          </p:cNvSpPr>
          <p:nvPr/>
        </p:nvSpPr>
        <p:spPr bwMode="auto">
          <a:xfrm>
            <a:off x="8279259" y="6605588"/>
            <a:ext cx="842962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048473F8-2F3F-4CC2-BF55-F7E080802650}" type="slidenum">
              <a:rPr lang="ko-KR" altLang="en-US" sz="1200" smtClean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r">
                <a:defRPr/>
              </a:pPr>
              <a:t>‹#›</a:t>
            </a:fld>
            <a:r>
              <a:rPr lang="ko-KR" altLang="en-US" sz="12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/ 57</a:t>
            </a:r>
          </a:p>
        </p:txBody>
      </p:sp>
      <p:sp>
        <p:nvSpPr>
          <p:cNvPr id="17" name="제목 9"/>
          <p:cNvSpPr>
            <a:spLocks noGrp="1"/>
          </p:cNvSpPr>
          <p:nvPr>
            <p:ph type="title"/>
          </p:nvPr>
        </p:nvSpPr>
        <p:spPr>
          <a:xfrm>
            <a:off x="288525" y="35744"/>
            <a:ext cx="7785100" cy="474662"/>
          </a:xfrm>
        </p:spPr>
        <p:txBody>
          <a:bodyPr>
            <a:noAutofit/>
          </a:bodyPr>
          <a:lstStyle>
            <a:lvl1pPr algn="l">
              <a:defRPr sz="2600" b="1" spc="-100" baseline="0">
                <a:solidFill>
                  <a:srgbClr val="C00000"/>
                </a:soli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>
          <a:xfrm>
            <a:off x="288526" y="773705"/>
            <a:ext cx="8603954" cy="5669958"/>
          </a:xfrm>
        </p:spPr>
        <p:txBody>
          <a:bodyPr>
            <a:normAutofit/>
          </a:bodyPr>
          <a:lstStyle>
            <a:lvl1pPr marL="93662" indent="0">
              <a:lnSpc>
                <a:spcPct val="150000"/>
              </a:lnSpc>
              <a:buClr>
                <a:schemeClr val="accent5">
                  <a:lumMod val="50000"/>
                </a:schemeClr>
              </a:buClr>
              <a:buSzPct val="70000"/>
              <a:buFont typeface="맑은 고딕" panose="020B0503020000020004" pitchFamily="50" charset="-127"/>
              <a:buNone/>
              <a:defRPr sz="2000" b="1"/>
            </a:lvl1pPr>
            <a:lvl2pPr marL="457200" marR="0" indent="0" algn="l" defTabSz="914400" rtl="0" eaLnBrk="1" fontAlgn="auto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Tx/>
              <a:buFont typeface="Wingdings" panose="05000000000000000000" pitchFamily="2" charset="2"/>
              <a:buNone/>
              <a:tabLst/>
              <a:defRPr sz="1600"/>
            </a:lvl2pPr>
            <a:lvl3pPr marL="804863" indent="-1778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/>
            </a:lvl3pPr>
            <a:lvl4pPr marL="982663" indent="-1778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/>
            </a:lvl4pPr>
            <a:lvl5pPr marL="982662" indent="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ko-KR" altLang="en-US" dirty="0"/>
              <a:t>마스터 텍스트 스타일을</a:t>
            </a:r>
          </a:p>
          <a:p>
            <a:pPr lvl="1"/>
            <a:r>
              <a:rPr lang="ko-KR" altLang="en-US" dirty="0"/>
              <a:t>둘째 수준</a:t>
            </a:r>
            <a:endParaRPr lang="en-US" altLang="ko-KR" dirty="0"/>
          </a:p>
          <a:p>
            <a:pPr marL="627063" marR="0" lvl="1" indent="-169863" algn="l" defTabSz="914400" rtl="0" eaLnBrk="1" fontAlgn="auto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  <a:p>
            <a:pPr lvl="4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253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사용자 지정 레이아웃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C:\Users\김현용\Desktop\제호.jpg"/>
          <p:cNvPicPr>
            <a:picLocks noChangeAspect="1" noChangeArrowheads="1"/>
          </p:cNvPicPr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7160661" y="5645666"/>
            <a:ext cx="1731819" cy="288636"/>
          </a:xfrm>
          <a:prstGeom prst="rect">
            <a:avLst/>
          </a:prstGeom>
          <a:noFill/>
        </p:spPr>
      </p:pic>
      <p:sp>
        <p:nvSpPr>
          <p:cNvPr id="11" name="TextBox 1"/>
          <p:cNvSpPr txBox="1">
            <a:spLocks noChangeArrowheads="1"/>
          </p:cNvSpPr>
          <p:nvPr userDrawn="1"/>
        </p:nvSpPr>
        <p:spPr>
          <a:xfrm>
            <a:off x="1476375" y="2565400"/>
            <a:ext cx="5975945" cy="13234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ko-KR" sz="8000" b="1" dirty="0">
                <a:solidFill>
                  <a:srgbClr val="00A496"/>
                </a:solidFill>
                <a:latin typeface="Arial Black"/>
                <a:ea typeface="+mn-ea"/>
              </a:rPr>
              <a:t>Thank</a:t>
            </a:r>
            <a:r>
              <a:rPr lang="en-US" altLang="ko-KR" sz="8000" b="1" baseline="0" dirty="0">
                <a:solidFill>
                  <a:srgbClr val="00A496"/>
                </a:solidFill>
                <a:latin typeface="Arial Black"/>
                <a:ea typeface="+mn-ea"/>
              </a:rPr>
              <a:t> you!</a:t>
            </a:r>
            <a:endParaRPr lang="ko-KR" altLang="en-US" sz="8000" b="1" dirty="0">
              <a:solidFill>
                <a:srgbClr val="00A496"/>
              </a:solidFill>
              <a:latin typeface="Arial Black"/>
              <a:ea typeface="+mn-ea"/>
            </a:endParaRPr>
          </a:p>
        </p:txBody>
      </p:sp>
      <p:sp>
        <p:nvSpPr>
          <p:cNvPr id="12" name="직사각형 6"/>
          <p:cNvSpPr/>
          <p:nvPr userDrawn="1"/>
        </p:nvSpPr>
        <p:spPr>
          <a:xfrm>
            <a:off x="-1" y="6165304"/>
            <a:ext cx="9144001" cy="692696"/>
          </a:xfrm>
          <a:prstGeom prst="rect">
            <a:avLst/>
          </a:prstGeom>
          <a:solidFill>
            <a:srgbClr val="0095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13" name="직사각형 10"/>
          <p:cNvSpPr/>
          <p:nvPr userDrawn="1"/>
        </p:nvSpPr>
        <p:spPr>
          <a:xfrm>
            <a:off x="0" y="6092750"/>
            <a:ext cx="9144000" cy="7255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14" name="TextBox 6"/>
          <p:cNvSpPr txBox="1">
            <a:spLocks noChangeArrowheads="1"/>
          </p:cNvSpPr>
          <p:nvPr userDrawn="1"/>
        </p:nvSpPr>
        <p:spPr>
          <a:xfrm>
            <a:off x="3147060" y="6309320"/>
            <a:ext cx="2687954" cy="430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ko-KR" sz="1100" b="0" dirty="0">
                <a:solidFill>
                  <a:schemeClr val="tx1"/>
                </a:solidFill>
                <a:latin typeface="+mn-ea"/>
                <a:ea typeface="+mn-ea"/>
                <a:cs typeface="Times New Roman"/>
              </a:rPr>
              <a:t>Copyright© 2024 </a:t>
            </a:r>
            <a:r>
              <a:rPr lang="en-US" altLang="ko-KR" sz="1100" b="0" dirty="0" err="1">
                <a:solidFill>
                  <a:schemeClr val="tx1"/>
                </a:solidFill>
                <a:latin typeface="+mn-ea"/>
                <a:ea typeface="+mn-ea"/>
                <a:cs typeface="Times New Roman"/>
              </a:rPr>
              <a:t>Hanbit</a:t>
            </a:r>
            <a:r>
              <a:rPr lang="en-US" altLang="ko-KR" sz="1100" b="0" dirty="0">
                <a:solidFill>
                  <a:schemeClr val="tx1"/>
                </a:solidFill>
                <a:latin typeface="+mn-ea"/>
                <a:ea typeface="+mn-ea"/>
                <a:cs typeface="Times New Roman"/>
              </a:rPr>
              <a:t> Academy, Inc.</a:t>
            </a:r>
          </a:p>
          <a:p>
            <a:pPr algn="ctr" eaLnBrk="1" hangingPunct="1">
              <a:defRPr/>
            </a:pPr>
            <a:r>
              <a:rPr lang="en-US" altLang="ko-KR" sz="1100" b="0" dirty="0">
                <a:solidFill>
                  <a:schemeClr val="tx1"/>
                </a:solidFill>
                <a:latin typeface="+mn-ea"/>
                <a:ea typeface="+mn-ea"/>
                <a:cs typeface="Times New Roman"/>
              </a:rPr>
              <a:t>All rights reserved.</a:t>
            </a:r>
            <a:endParaRPr lang="ko-KR" altLang="ko-KR" sz="1100" b="0" dirty="0">
              <a:solidFill>
                <a:schemeClr val="tx1"/>
              </a:solidFill>
              <a:latin typeface="+mn-ea"/>
              <a:ea typeface="+mn-ea"/>
              <a:cs typeface="Times New Roman"/>
            </a:endParaRP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228600" y="931818"/>
            <a:ext cx="8686800" cy="5715000"/>
          </a:xfrm>
        </p:spPr>
        <p:txBody>
          <a:bodyPr/>
          <a:lstStyle>
            <a:lvl1pPr marL="342900" marR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ts val="100"/>
              </a:spcAft>
              <a:buClr>
                <a:srgbClr val="5A8DDC"/>
              </a:buClr>
              <a:buSzTx/>
              <a:buFont typeface="Wingdings" pitchFamily="2" charset="2"/>
              <a:buChar char="v"/>
              <a:tabLst/>
              <a:defRPr sz="2200"/>
            </a:lvl1pPr>
            <a:lvl2pPr marL="539750" marR="0" indent="-182563" algn="l" defTabSz="914400" rtl="0" eaLnBrk="0" fontAlgn="base" latinLnBrk="1" hangingPunct="0">
              <a:lnSpc>
                <a:spcPct val="110000"/>
              </a:lnSpc>
              <a:spcBef>
                <a:spcPct val="20000"/>
              </a:spcBef>
              <a:spcAft>
                <a:spcPts val="100"/>
              </a:spcAft>
              <a:buClr>
                <a:srgbClr val="B1AE6B"/>
              </a:buClr>
              <a:buSzTx/>
              <a:buFont typeface="Wingdings" pitchFamily="2" charset="2"/>
              <a:buChar char="§"/>
              <a:tabLst/>
              <a:defRPr sz="1800"/>
            </a:lvl2pPr>
            <a:lvl3pPr marL="720725" marR="0" indent="-185738" algn="l" defTabSz="914400" rtl="0" eaLnBrk="0" fontAlgn="base" latinLnBrk="1" hangingPunct="0">
              <a:lnSpc>
                <a:spcPct val="110000"/>
              </a:lnSpc>
              <a:spcBef>
                <a:spcPct val="20000"/>
              </a:spcBef>
              <a:spcAft>
                <a:spcPts val="100"/>
              </a:spcAft>
              <a:buClr>
                <a:srgbClr val="ADB9AD"/>
              </a:buClr>
              <a:buSzTx/>
              <a:buFontTx/>
              <a:buChar char="•"/>
              <a:tabLst/>
              <a:defRPr sz="1600"/>
            </a:lvl3pPr>
            <a:lvl4pPr marL="898525" indent="-177800">
              <a:buClr>
                <a:schemeClr val="bg1">
                  <a:lumMod val="50000"/>
                </a:schemeClr>
              </a:buClr>
              <a:buSzPct val="90000"/>
              <a:buFont typeface="Arial" panose="020B0604020202020204" pitchFamily="34" charset="0"/>
              <a:buChar char="−"/>
              <a:tabLst>
                <a:tab pos="898525" algn="l"/>
              </a:tabLst>
              <a:defRPr sz="1400" b="0">
                <a:latin typeface="맑은 고딕" pitchFamily="50" charset="-127"/>
                <a:ea typeface="맑은 고딕" pitchFamily="50" charset="-127"/>
              </a:defRPr>
            </a:lvl4pPr>
            <a:lvl5pPr>
              <a:defRPr sz="1200"/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66393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 name="ch01_JAVA 들여다보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4B2FD9B6-DC5A-4644-B01F-335E6DD2CDD1}" type="datetime1">
              <a:rPr lang="ko-KR" altLang="en-US"/>
              <a:pPr lvl="0">
                <a:defRPr/>
              </a:pPr>
              <a:t>2024-03-08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6BC740F2-65F4-46F1-8462-F5CEAE10BBF6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84" r:id="rId3"/>
    <p:sldLayoutId id="2147483737" r:id="rId4"/>
    <p:sldLayoutId id="2147483738" r:id="rId5"/>
    <p:sldLayoutId id="2147483787" r:id="rId6"/>
    <p:sldLayoutId id="2147483739" r:id="rId7"/>
    <p:sldLayoutId id="2147483740" r:id="rId8"/>
    <p:sldLayoutId id="2147483785" r:id="rId9"/>
    <p:sldLayoutId id="2147483741" r:id="rId10"/>
    <p:sldLayoutId id="2147483742" r:id="rId11"/>
    <p:sldLayoutId id="2147483786" r:id="rId12"/>
  </p:sldLayoutIdLst>
  <p:transition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맑은 고딕"/>
          <a:ea typeface="맑은 고딕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맑은 고딕"/>
          <a:ea typeface="맑은 고딕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맑은 고딕"/>
          <a:ea typeface="맑은 고딕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맑은 고딕"/>
          <a:ea typeface="맑은 고딕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맑은 고딕"/>
          <a:ea typeface="맑은 고딕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맑은 고딕"/>
          <a:ea typeface="맑은 고딕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456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AE37D05-C5F3-E59C-B391-B391259DE0C2}"/>
              </a:ext>
            </a:extLst>
          </p:cNvPr>
          <p:cNvSpPr/>
          <p:nvPr/>
        </p:nvSpPr>
        <p:spPr bwMode="auto">
          <a:xfrm>
            <a:off x="4256965" y="836712"/>
            <a:ext cx="4553519" cy="286232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marR="0" indent="0" algn="r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000" b="1" dirty="0">
                <a:latin typeface="+mj-ea"/>
                <a:ea typeface="+mj-ea"/>
              </a:rPr>
              <a:t>Chapter 02</a:t>
            </a:r>
            <a:endParaRPr lang="en-US" altLang="ko-KR" sz="4000" b="1" baseline="0" dirty="0">
              <a:latin typeface="+mj-ea"/>
              <a:ea typeface="+mj-ea"/>
            </a:endParaRPr>
          </a:p>
          <a:p>
            <a:pPr algn="r" eaLnBrk="1" latinLnBrk="1" hangingPunct="1">
              <a:defRPr/>
            </a:pPr>
            <a:r>
              <a:rPr kumimoji="1" lang="en-US" altLang="ko-KR" sz="4000" b="1" spc="-150" dirty="0">
                <a:latin typeface="+mj-ea"/>
                <a:ea typeface="+mj-ea"/>
              </a:rPr>
              <a:t>SQL</a:t>
            </a:r>
            <a:r>
              <a:rPr kumimoji="1" lang="ko-KR" altLang="en-US" sz="4000" b="1" spc="-150" dirty="0">
                <a:latin typeface="+mj-ea"/>
                <a:ea typeface="+mj-ea"/>
              </a:rPr>
              <a:t>의</a:t>
            </a:r>
          </a:p>
          <a:p>
            <a:pPr algn="r" eaLnBrk="1" latinLnBrk="1" hangingPunct="1">
              <a:defRPr/>
            </a:pPr>
            <a:r>
              <a:rPr kumimoji="1" lang="ko-KR" altLang="en-US" sz="4000" b="1" spc="-150" dirty="0">
                <a:latin typeface="+mj-ea"/>
                <a:ea typeface="+mj-ea"/>
              </a:rPr>
              <a:t>기본 질의문과 </a:t>
            </a:r>
          </a:p>
          <a:p>
            <a:pPr algn="r" eaLnBrk="1" latinLnBrk="1" hangingPunct="1">
              <a:defRPr/>
            </a:pPr>
            <a:r>
              <a:rPr kumimoji="1" lang="ko-KR" altLang="en-US" sz="4000" b="1" spc="-150" dirty="0">
                <a:latin typeface="+mj-ea"/>
                <a:ea typeface="+mj-ea"/>
              </a:rPr>
              <a:t>연산자</a:t>
            </a:r>
            <a:endParaRPr kumimoji="1" lang="en-US" altLang="ko-KR" sz="4000" b="1" kern="1200" spc="-15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87468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ko-KR" altLang="en-US" sz="2400" b="1" spc="-150" dirty="0">
                <a:latin typeface="맑은 고딕"/>
              </a:rPr>
              <a:t>데이터 조회를 위한 </a:t>
            </a:r>
            <a:r>
              <a:rPr lang="en-US" altLang="ko-KR" sz="2400" b="1" spc="-150" dirty="0">
                <a:latin typeface="맑은 고딕"/>
              </a:rPr>
              <a:t>SQL</a:t>
            </a:r>
            <a:r>
              <a:rPr lang="ko-KR" altLang="en-US" sz="2400" b="1" spc="-150" dirty="0">
                <a:latin typeface="맑은 고딕"/>
              </a:rPr>
              <a:t>문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2400" b="1" spc="-150" dirty="0">
                <a:latin typeface="맑은 고딕"/>
              </a:rPr>
              <a:t>SQL </a:t>
            </a:r>
            <a:r>
              <a:rPr lang="ko-KR" altLang="en-US" sz="2400" b="1" spc="-150" dirty="0">
                <a:latin typeface="맑은 고딕"/>
              </a:rPr>
              <a:t>연산자</a:t>
            </a:r>
            <a:endParaRPr lang="ko-KR" altLang="ko-KR" sz="2400" b="1" spc="-150" dirty="0"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5" y="1851323"/>
            <a:ext cx="8001889" cy="410445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데이터 조회를 위한 </a:t>
            </a:r>
            <a:r>
              <a:rPr lang="en-US" altLang="ko-KR" dirty="0"/>
              <a:t>SQL </a:t>
            </a:r>
            <a:r>
              <a:rPr lang="ko-KR" altLang="en-US" dirty="0"/>
              <a:t>문법을 이해할 수 있습니다</a:t>
            </a:r>
            <a:r>
              <a:rPr lang="en-US" altLang="ko-KR" dirty="0"/>
              <a:t>.</a:t>
            </a:r>
          </a:p>
          <a:p>
            <a:pPr>
              <a:defRPr/>
            </a:pPr>
            <a:r>
              <a:rPr lang="en-US" altLang="ko-KR" dirty="0"/>
              <a:t>SELECT</a:t>
            </a:r>
            <a:r>
              <a:rPr lang="ko-KR" altLang="en-US" dirty="0"/>
              <a:t>절</a:t>
            </a:r>
            <a:r>
              <a:rPr lang="en-US" altLang="ko-KR" dirty="0"/>
              <a:t>, WHERE</a:t>
            </a:r>
            <a:r>
              <a:rPr lang="ko-KR" altLang="en-US" dirty="0"/>
              <a:t>절</a:t>
            </a:r>
            <a:r>
              <a:rPr lang="en-US" altLang="ko-KR" dirty="0"/>
              <a:t>, ORDER BY</a:t>
            </a:r>
            <a:r>
              <a:rPr lang="ko-KR" altLang="en-US" dirty="0"/>
              <a:t>절 및 </a:t>
            </a:r>
            <a:r>
              <a:rPr lang="en-US" altLang="ko-KR" dirty="0"/>
              <a:t>LIMIT n</a:t>
            </a:r>
            <a:r>
              <a:rPr lang="ko-KR" altLang="en-US" dirty="0"/>
              <a:t>에 대한 문법을 이해할 수 있습니다</a:t>
            </a:r>
            <a:r>
              <a:rPr lang="en-US" altLang="ko-KR" dirty="0"/>
              <a:t>.</a:t>
            </a:r>
          </a:p>
          <a:p>
            <a:pPr>
              <a:defRPr/>
            </a:pPr>
            <a:r>
              <a:rPr lang="en-US" altLang="ko-KR" dirty="0"/>
              <a:t>SQL</a:t>
            </a:r>
            <a:r>
              <a:rPr lang="ko-KR" altLang="en-US" dirty="0"/>
              <a:t>문에서 연산자를 활용할 수 있습니다</a:t>
            </a:r>
            <a:endParaRPr lang="en-US" altLang="ko-K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5BF091D-3815-0B4B-01E5-F8CDE745F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762" y="595116"/>
            <a:ext cx="5306477" cy="566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61434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데이터 조회를 위한 </a:t>
            </a:r>
            <a:r>
              <a:rPr lang="en-US" altLang="ko-KR" dirty="0"/>
              <a:t>SQL</a:t>
            </a:r>
            <a:r>
              <a:rPr lang="ko-KR" altLang="en-US" dirty="0"/>
              <a:t>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u="sng"/>
              <a:t>Section 01</a:t>
            </a:r>
            <a:endParaRPr lang="ko-KR" altLang="en-US" u="sng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91FD31-9237-6B28-B82F-731B475EE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SELECT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E170B4-BFA1-4111-69C0-7B4FB5BC4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SELECT</a:t>
            </a:r>
            <a:r>
              <a:rPr lang="ko-KR" altLang="en-US" dirty="0"/>
              <a:t>문</a:t>
            </a:r>
            <a:endParaRPr lang="en-US" altLang="ko-KR" dirty="0"/>
          </a:p>
          <a:p>
            <a:pPr lvl="1"/>
            <a:r>
              <a:rPr lang="ko-KR" altLang="en-US" dirty="0"/>
              <a:t>형식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SELECT</a:t>
            </a:r>
            <a:r>
              <a:rPr lang="ko-KR" altLang="en-US" dirty="0"/>
              <a:t>절에는 </a:t>
            </a:r>
            <a:r>
              <a:rPr lang="ko-KR" altLang="en-US" dirty="0" err="1"/>
              <a:t>컬럼명</a:t>
            </a:r>
            <a:r>
              <a:rPr lang="ko-KR" altLang="en-US" dirty="0"/>
              <a:t> 뿐만 아니라 수식이나 함수가 들어갈 수도 있음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AB7E3A6-C213-1B54-DEB8-965DFD7342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50"/>
          <a:stretch/>
        </p:blipFill>
        <p:spPr>
          <a:xfrm>
            <a:off x="1355147" y="1628800"/>
            <a:ext cx="6433705" cy="166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77615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91FD31-9237-6B28-B82F-731B475EE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SELECT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E170B4-BFA1-4111-69C0-7B4FB5BC4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SELECT</a:t>
            </a:r>
            <a:r>
              <a:rPr lang="ko-KR" altLang="en-US" dirty="0"/>
              <a:t>문</a:t>
            </a:r>
            <a:endParaRPr lang="en-US" altLang="ko-KR" dirty="0"/>
          </a:p>
          <a:p>
            <a:pPr lvl="1"/>
            <a:r>
              <a:rPr lang="ko-KR" altLang="en-US" dirty="0"/>
              <a:t>컬럼에는 별명</a:t>
            </a:r>
            <a:r>
              <a:rPr lang="en-US" altLang="ko-KR" dirty="0"/>
              <a:t>(Alias)</a:t>
            </a:r>
            <a:r>
              <a:rPr lang="ko-KR" altLang="en-US" dirty="0"/>
              <a:t>을 붙여줄 수 있음</a:t>
            </a:r>
            <a:r>
              <a:rPr lang="en-US" altLang="ko-KR" dirty="0"/>
              <a:t> </a:t>
            </a:r>
          </a:p>
          <a:p>
            <a:pPr lvl="2"/>
            <a:r>
              <a:rPr lang="ko-KR" altLang="en-US" sz="1600" dirty="0"/>
              <a:t>별명은 컬럼명을 실제로 변경하는 것이 아니라 현재 </a:t>
            </a:r>
            <a:r>
              <a:rPr lang="en-US" altLang="ko-KR" sz="1600" dirty="0"/>
              <a:t>SELECT </a:t>
            </a:r>
            <a:r>
              <a:rPr lang="ko-KR" altLang="en-US" sz="1600" dirty="0"/>
              <a:t>문장에서만 적용되는 컬럼의 제목</a:t>
            </a:r>
            <a:endParaRPr lang="en-US" altLang="ko-KR" sz="1600" dirty="0"/>
          </a:p>
          <a:p>
            <a:pPr lvl="2"/>
            <a:r>
              <a:rPr lang="en-US" altLang="ko-KR" sz="1600" dirty="0"/>
              <a:t>AS </a:t>
            </a:r>
            <a:r>
              <a:rPr lang="ko-KR" altLang="en-US" sz="1600" dirty="0"/>
              <a:t>다음에 별명을 입력하거나 </a:t>
            </a:r>
            <a:r>
              <a:rPr lang="en-US" altLang="ko-KR" sz="1600" dirty="0"/>
              <a:t>AS</a:t>
            </a:r>
            <a:r>
              <a:rPr lang="ko-KR" altLang="en-US" sz="1600" dirty="0"/>
              <a:t>를 생략하고 바로 별명을 입력해도 됨</a:t>
            </a:r>
            <a:r>
              <a:rPr lang="en-US" altLang="ko-KR" sz="1600" dirty="0"/>
              <a:t> </a:t>
            </a:r>
          </a:p>
          <a:p>
            <a:pPr lvl="2"/>
            <a:r>
              <a:rPr lang="ko-KR" altLang="en-US" sz="1600" dirty="0"/>
              <a:t>만약 별명에 공백이 있는 경우 또는 특수문자가 포함된 경우에는 반드시 </a:t>
            </a:r>
            <a:r>
              <a:rPr lang="ko-KR" altLang="en-US" sz="1600" dirty="0" err="1"/>
              <a:t>쌍따옴표</a:t>
            </a:r>
            <a:r>
              <a:rPr lang="en-US" altLang="ko-KR" sz="1600" dirty="0"/>
              <a:t>(“ ”)</a:t>
            </a:r>
            <a:r>
              <a:rPr lang="ko-KR" altLang="en-US" sz="1600" dirty="0"/>
              <a:t>나 작은따옴표</a:t>
            </a:r>
            <a:r>
              <a:rPr lang="en-US" altLang="ko-KR" sz="1600" dirty="0"/>
              <a:t>(‘ ’) </a:t>
            </a:r>
            <a:r>
              <a:rPr lang="ko-KR" altLang="en-US" sz="1600" dirty="0"/>
              <a:t>안에 별명을 </a:t>
            </a:r>
            <a:r>
              <a:rPr lang="ko-KR" altLang="en-US" sz="1600" dirty="0" err="1"/>
              <a:t>넣어줌</a:t>
            </a:r>
            <a:endParaRPr lang="ko-KR" altLang="en-US" sz="1600" dirty="0"/>
          </a:p>
        </p:txBody>
      </p:sp>
      <p:pic>
        <p:nvPicPr>
          <p:cNvPr id="6" name="그림 5" descr="텍스트, 만화 영화, 일러스트레이션, 클립아트이(가) 표시된 사진&#10;&#10;자동 생성된 설명">
            <a:extLst>
              <a:ext uri="{FF2B5EF4-FFF2-40B4-BE49-F238E27FC236}">
                <a16:creationId xmlns:a16="http://schemas.microsoft.com/office/drawing/2014/main" id="{8CA36D69-86BC-68A1-9D01-FDAAD1A6C4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085" y="3924055"/>
            <a:ext cx="4937829" cy="1989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08652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91FD31-9237-6B28-B82F-731B475EE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SELECT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E170B4-BFA1-4111-69C0-7B4FB5BC4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[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예제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2-1]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고객 테이블에 있는 모든 데이터를 </a:t>
            </a:r>
            <a:r>
              <a:rPr lang="ko-KR" altLang="en-US" dirty="0" err="1">
                <a:solidFill>
                  <a:schemeClr val="tx1"/>
                </a:solidFill>
              </a:rPr>
              <a:t>조회하시오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6C465302-25FD-E31E-9C74-007CF959999A}"/>
              </a:ext>
            </a:extLst>
          </p:cNvPr>
          <p:cNvGrpSpPr/>
          <p:nvPr/>
        </p:nvGrpSpPr>
        <p:grpSpPr>
          <a:xfrm>
            <a:off x="1196625" y="1448780"/>
            <a:ext cx="6476427" cy="3757044"/>
            <a:chOff x="1196625" y="1448780"/>
            <a:chExt cx="6476427" cy="3757044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25BEA509-76A7-E25E-6274-4B53ADF4E7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6625" y="1448780"/>
              <a:ext cx="6476427" cy="708471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3A1D5BC8-15F2-60EF-CAF4-C4E8C7AE91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96625" y="2157251"/>
              <a:ext cx="5853832" cy="30485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0085720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91FD31-9237-6B28-B82F-731B475EE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SELECT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E170B4-BFA1-4111-69C0-7B4FB5BC4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[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예제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2-2]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고객 테이블에서 고객번호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담당자명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고객회사명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마일리지</a:t>
            </a:r>
            <a:r>
              <a:rPr lang="en-US" altLang="ko-KR" dirty="0">
                <a:solidFill>
                  <a:schemeClr val="tx1"/>
                </a:solidFill>
              </a:rPr>
              <a:t>, 10% </a:t>
            </a:r>
            <a:r>
              <a:rPr lang="ko-KR" altLang="en-US" dirty="0">
                <a:solidFill>
                  <a:schemeClr val="tx1"/>
                </a:solidFill>
              </a:rPr>
              <a:t>인상된 마일리지를 </a:t>
            </a:r>
            <a:r>
              <a:rPr lang="ko-KR" altLang="en-US" dirty="0" err="1">
                <a:solidFill>
                  <a:schemeClr val="tx1"/>
                </a:solidFill>
              </a:rPr>
              <a:t>조회하시오</a:t>
            </a:r>
            <a:r>
              <a:rPr lang="en-US" altLang="ko-KR" dirty="0">
                <a:solidFill>
                  <a:schemeClr val="tx1"/>
                </a:solidFill>
              </a:rPr>
              <a:t>. </a:t>
            </a:r>
            <a:r>
              <a:rPr lang="ko-KR" altLang="en-US" dirty="0">
                <a:solidFill>
                  <a:schemeClr val="tx1"/>
                </a:solidFill>
              </a:rPr>
              <a:t>이때 마일리지는 ‘</a:t>
            </a:r>
            <a:r>
              <a:rPr lang="ko-KR" altLang="en-US" dirty="0" err="1">
                <a:solidFill>
                  <a:schemeClr val="tx1"/>
                </a:solidFill>
              </a:rPr>
              <a:t>포인트’로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인상된 마일리지는 ‘</a:t>
            </a:r>
            <a:r>
              <a:rPr lang="en-US" altLang="ko-KR" dirty="0">
                <a:solidFill>
                  <a:schemeClr val="tx1"/>
                </a:solidFill>
              </a:rPr>
              <a:t>10%</a:t>
            </a:r>
            <a:r>
              <a:rPr lang="ko-KR" altLang="en-US" dirty="0">
                <a:solidFill>
                  <a:schemeClr val="tx1"/>
                </a:solidFill>
              </a:rPr>
              <a:t>인상된 </a:t>
            </a:r>
            <a:r>
              <a:rPr lang="ko-KR" altLang="en-US" dirty="0" err="1">
                <a:solidFill>
                  <a:schemeClr val="tx1"/>
                </a:solidFill>
              </a:rPr>
              <a:t>마일리지’로</a:t>
            </a:r>
            <a:r>
              <a:rPr lang="ko-KR" altLang="en-US" dirty="0">
                <a:solidFill>
                  <a:schemeClr val="tx1"/>
                </a:solidFill>
              </a:rPr>
              <a:t> 별명을 붙입니다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CD1F811-C9A7-00F1-011B-36DD3BB96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364" y="1853825"/>
            <a:ext cx="6469271" cy="163163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96ED49E-0977-1657-F11A-6F11F0EEC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364" y="3557237"/>
            <a:ext cx="5102423" cy="2125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18625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91FD31-9237-6B28-B82F-731B475EE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WHERE</a:t>
            </a:r>
            <a:r>
              <a:rPr lang="ko-KR" altLang="en-US" dirty="0"/>
              <a:t>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E170B4-BFA1-4111-69C0-7B4FB5BC4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[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예제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2-3]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고객 테이블에서 마일리지가 </a:t>
            </a:r>
            <a:r>
              <a:rPr lang="en-US" altLang="ko-KR" dirty="0">
                <a:solidFill>
                  <a:schemeClr val="tx1"/>
                </a:solidFill>
              </a:rPr>
              <a:t>100,000</a:t>
            </a:r>
            <a:r>
              <a:rPr lang="ko-KR" altLang="en-US" dirty="0">
                <a:solidFill>
                  <a:schemeClr val="tx1"/>
                </a:solidFill>
              </a:rPr>
              <a:t>점 이상인 고객의 고객번호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담당자명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마일리지를 </a:t>
            </a:r>
            <a:r>
              <a:rPr lang="ko-KR" altLang="en-US" dirty="0" err="1">
                <a:solidFill>
                  <a:schemeClr val="tx1"/>
                </a:solidFill>
              </a:rPr>
              <a:t>조회하시오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D1F9E3D0-EE3E-D1C7-C61F-CF0A18965D30}"/>
              </a:ext>
            </a:extLst>
          </p:cNvPr>
          <p:cNvGrpSpPr/>
          <p:nvPr/>
        </p:nvGrpSpPr>
        <p:grpSpPr>
          <a:xfrm>
            <a:off x="1333786" y="1628800"/>
            <a:ext cx="6476427" cy="2189820"/>
            <a:chOff x="1333786" y="1628800"/>
            <a:chExt cx="6476427" cy="218982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5F535E61-2BBD-8EC8-BD45-508639A171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33786" y="1628800"/>
              <a:ext cx="6476427" cy="1424098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33659EA3-6327-0922-CE02-8FE96F7FC7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47636" y="3052898"/>
              <a:ext cx="1760443" cy="7657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0712249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1225F1-52D5-05BF-45C7-CD35AEB14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ORDER BY</a:t>
            </a:r>
            <a:r>
              <a:rPr lang="ko-KR" altLang="en-US" dirty="0"/>
              <a:t>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2C1914-FE1E-77B8-F79C-B2DBA8BB4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ORDER BY</a:t>
            </a:r>
          </a:p>
          <a:p>
            <a:pPr lvl="1"/>
            <a:r>
              <a:rPr lang="ko-KR" altLang="en-US" dirty="0"/>
              <a:t>레코드를 순서대로 정렬하고자 할 때 사용함</a:t>
            </a:r>
            <a:r>
              <a:rPr lang="en-US" altLang="ko-KR" dirty="0"/>
              <a:t> </a:t>
            </a:r>
          </a:p>
          <a:p>
            <a:pPr lvl="1"/>
            <a:r>
              <a:rPr lang="ko-KR" altLang="en-US" dirty="0" err="1"/>
              <a:t>컬럼명</a:t>
            </a:r>
            <a:r>
              <a:rPr lang="ko-KR" altLang="en-US" dirty="0"/>
              <a:t> 이외에도 수식이나 함수 또는 컬럼의 순번이 올 수도 있음</a:t>
            </a:r>
            <a:endParaRPr lang="en-US" altLang="ko-KR" dirty="0"/>
          </a:p>
          <a:p>
            <a:pPr lvl="1"/>
            <a:r>
              <a:rPr lang="ko-KR" altLang="en-US" dirty="0"/>
              <a:t>오름차순 정렬</a:t>
            </a:r>
            <a:r>
              <a:rPr lang="en-US" altLang="ko-KR" dirty="0"/>
              <a:t>(ASC)</a:t>
            </a:r>
          </a:p>
          <a:p>
            <a:pPr lvl="2"/>
            <a:r>
              <a:rPr lang="ko-KR" altLang="en-US" sz="1600" dirty="0"/>
              <a:t>작은 값부터 순서대로 보여줌 </a:t>
            </a:r>
            <a:endParaRPr lang="en-US" altLang="ko-KR" sz="1600" dirty="0"/>
          </a:p>
          <a:p>
            <a:pPr lvl="2"/>
            <a:r>
              <a:rPr lang="en-US" altLang="ko-KR" sz="1600" dirty="0"/>
              <a:t>ASC</a:t>
            </a:r>
            <a:r>
              <a:rPr lang="ko-KR" altLang="en-US" sz="1600" dirty="0"/>
              <a:t>는 생략 가능함</a:t>
            </a:r>
            <a:endParaRPr lang="en-US" altLang="ko-KR" sz="1600" dirty="0"/>
          </a:p>
          <a:p>
            <a:pPr lvl="1"/>
            <a:r>
              <a:rPr lang="ko-KR" altLang="en-US" dirty="0"/>
              <a:t>내림차순 정렬</a:t>
            </a:r>
            <a:r>
              <a:rPr lang="en-US" altLang="ko-KR" dirty="0"/>
              <a:t>(DESC)</a:t>
            </a:r>
          </a:p>
          <a:p>
            <a:pPr lvl="2"/>
            <a:r>
              <a:rPr lang="ko-KR" altLang="en-US" sz="1600" dirty="0"/>
              <a:t>큰 값부터 순서대로 보여줌</a:t>
            </a:r>
            <a:endParaRPr lang="en-US" altLang="ko-KR" sz="1600" dirty="0"/>
          </a:p>
          <a:p>
            <a:pPr lvl="1"/>
            <a:r>
              <a:rPr lang="en-US" altLang="ko-KR" dirty="0"/>
              <a:t>ORDER</a:t>
            </a:r>
            <a:r>
              <a:rPr lang="ko-KR" altLang="en-US" dirty="0"/>
              <a:t>절에서 </a:t>
            </a:r>
            <a:r>
              <a:rPr lang="ko-KR" altLang="en-US" dirty="0" err="1"/>
              <a:t>컬럼명</a:t>
            </a:r>
            <a:r>
              <a:rPr lang="ko-KR" altLang="en-US" dirty="0"/>
              <a:t> 대신 별명이나 컬럼의 순서를 넣을 수도 있음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E83ECCF-E655-FEEB-4701-56D817581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146" y="4509120"/>
            <a:ext cx="6397708" cy="558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35668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1225F1-52D5-05BF-45C7-CD35AEB14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ORDER BY</a:t>
            </a:r>
            <a:r>
              <a:rPr lang="ko-KR" altLang="en-US" dirty="0"/>
              <a:t>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2C1914-FE1E-77B8-F79C-B2DBA8BB4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[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예제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2-4]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‘</a:t>
            </a:r>
            <a:r>
              <a:rPr lang="ko-KR" altLang="en-US" dirty="0" err="1">
                <a:solidFill>
                  <a:schemeClr val="tx1"/>
                </a:solidFill>
              </a:rPr>
              <a:t>서울특별시’에</a:t>
            </a:r>
            <a:r>
              <a:rPr lang="ko-KR" altLang="en-US" dirty="0">
                <a:solidFill>
                  <a:schemeClr val="tx1"/>
                </a:solidFill>
              </a:rPr>
              <a:t> 사는 고객에 대해 고객번호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담당자명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도시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마일리지를 </a:t>
            </a:r>
            <a:r>
              <a:rPr lang="ko-KR" altLang="en-US" dirty="0" err="1">
                <a:solidFill>
                  <a:schemeClr val="tx1"/>
                </a:solidFill>
              </a:rPr>
              <a:t>조회하시오</a:t>
            </a:r>
            <a:r>
              <a:rPr lang="en-US" altLang="ko-KR" dirty="0">
                <a:solidFill>
                  <a:schemeClr val="tx1"/>
                </a:solidFill>
              </a:rPr>
              <a:t>. </a:t>
            </a:r>
            <a:r>
              <a:rPr lang="ko-KR" altLang="en-US" dirty="0">
                <a:solidFill>
                  <a:schemeClr val="tx1"/>
                </a:solidFill>
              </a:rPr>
              <a:t>이때 마일리지가 많은 고객부터 순서대로 보입니다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38EF7A6-3EAF-B83E-E69A-63AB4E836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630" y="1554056"/>
            <a:ext cx="6462115" cy="187494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4F6A89D-282E-882D-773C-7F3386D2A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039" y="3429000"/>
            <a:ext cx="2297164" cy="1474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475787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2BA4B4-0D22-1A22-05A2-32AF7876C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LIMIT 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9C617C-E23E-43EC-C58E-4F75497CE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LIMIT n</a:t>
            </a:r>
          </a:p>
          <a:p>
            <a:pPr lvl="1"/>
            <a:r>
              <a:rPr lang="ko-KR" altLang="en-US" dirty="0"/>
              <a:t>사용하여 반환되는 레코드의 개수를 지정할 수 있음</a:t>
            </a:r>
            <a:endParaRPr lang="en-US" altLang="ko-KR" dirty="0"/>
          </a:p>
          <a:p>
            <a:pPr lvl="1"/>
            <a:r>
              <a:rPr lang="en-US" altLang="ko-KR" dirty="0"/>
              <a:t>1</a:t>
            </a:r>
            <a:r>
              <a:rPr lang="ko-KR" altLang="en-US" dirty="0"/>
              <a:t>행부터 시작하여 </a:t>
            </a:r>
            <a:r>
              <a:rPr lang="en-US" altLang="ko-KR" dirty="0"/>
              <a:t>n</a:t>
            </a:r>
            <a:r>
              <a:rPr lang="ko-KR" altLang="en-US" dirty="0"/>
              <a:t>개의 레코드를 가져오기 위해서는 문장의 맨 마지막에 </a:t>
            </a:r>
            <a:r>
              <a:rPr lang="en-US" altLang="ko-KR" dirty="0"/>
              <a:t>LIMIT n</a:t>
            </a:r>
            <a:r>
              <a:rPr lang="ko-KR" altLang="en-US" dirty="0"/>
              <a:t>을 추가함</a:t>
            </a:r>
            <a:r>
              <a:rPr lang="en-US" altLang="ko-KR" dirty="0"/>
              <a:t> </a:t>
            </a:r>
          </a:p>
          <a:p>
            <a:pPr lvl="1"/>
            <a:r>
              <a:rPr lang="ko-KR" altLang="en-US" dirty="0"/>
              <a:t>시작행의 위치를 지정할 수도 있음</a:t>
            </a:r>
            <a:endParaRPr lang="en-US" altLang="ko-KR" dirty="0"/>
          </a:p>
          <a:p>
            <a:pPr lvl="1"/>
            <a:r>
              <a:rPr lang="en-US" altLang="ko-KR" dirty="0"/>
              <a:t>ORDER BY</a:t>
            </a:r>
            <a:r>
              <a:rPr lang="ko-KR" altLang="en-US" dirty="0"/>
              <a:t>절 뒤에 </a:t>
            </a:r>
            <a:r>
              <a:rPr lang="en-US" altLang="ko-KR" dirty="0"/>
              <a:t>LIMIT</a:t>
            </a:r>
            <a:r>
              <a:rPr lang="ko-KR" altLang="en-US" dirty="0"/>
              <a:t>와 가져올 레코드의 수를 넣으면 상위 또는 하위 </a:t>
            </a:r>
            <a:r>
              <a:rPr lang="en-US" altLang="ko-KR" dirty="0"/>
              <a:t>n</a:t>
            </a:r>
            <a:r>
              <a:rPr lang="ko-KR" altLang="en-US" dirty="0"/>
              <a:t>개의 레코드를 조회할 수 있음</a:t>
            </a:r>
          </a:p>
        </p:txBody>
      </p:sp>
    </p:spTree>
    <p:extLst>
      <p:ext uri="{BB962C8B-B14F-4D97-AF65-F5344CB8AC3E}">
        <p14:creationId xmlns:p14="http://schemas.microsoft.com/office/powerpoint/2010/main" val="3059485422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2BA4B4-0D22-1A22-05A2-32AF7876C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LIMIT 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9C617C-E23E-43EC-C58E-4F75497CE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[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예제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2-5]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고객 테이블에서 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  <a:r>
              <a:rPr lang="ko-KR" altLang="en-US" dirty="0">
                <a:solidFill>
                  <a:schemeClr val="tx1"/>
                </a:solidFill>
              </a:rPr>
              <a:t>행부터 시작하여 </a:t>
            </a:r>
            <a:r>
              <a:rPr lang="en-US" altLang="ko-KR" dirty="0">
                <a:solidFill>
                  <a:schemeClr val="tx1"/>
                </a:solidFill>
              </a:rPr>
              <a:t>3</a:t>
            </a:r>
            <a:r>
              <a:rPr lang="ko-KR" altLang="en-US" dirty="0">
                <a:solidFill>
                  <a:schemeClr val="tx1"/>
                </a:solidFill>
              </a:rPr>
              <a:t>개의 고객 정보를 </a:t>
            </a:r>
            <a:r>
              <a:rPr lang="ko-KR" altLang="en-US" dirty="0" err="1">
                <a:solidFill>
                  <a:schemeClr val="tx1"/>
                </a:solidFill>
              </a:rPr>
              <a:t>조회하시오입니다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[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예제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2-6]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마일리지가 많은 고객부터 상위 </a:t>
            </a:r>
            <a:r>
              <a:rPr lang="en-US" altLang="ko-KR" dirty="0">
                <a:solidFill>
                  <a:schemeClr val="tx1"/>
                </a:solidFill>
              </a:rPr>
              <a:t>3</a:t>
            </a:r>
            <a:r>
              <a:rPr lang="ko-KR" altLang="en-US" dirty="0">
                <a:solidFill>
                  <a:schemeClr val="tx1"/>
                </a:solidFill>
              </a:rPr>
              <a:t>명의 고객에 대한 모든 정보를 </a:t>
            </a:r>
            <a:r>
              <a:rPr lang="ko-KR" altLang="en-US" dirty="0" err="1">
                <a:solidFill>
                  <a:schemeClr val="tx1"/>
                </a:solidFill>
              </a:rPr>
              <a:t>조회하시오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A7120A4-6A3E-4C8D-5ECE-259C1F5B34ED}"/>
              </a:ext>
            </a:extLst>
          </p:cNvPr>
          <p:cNvGrpSpPr/>
          <p:nvPr/>
        </p:nvGrpSpPr>
        <p:grpSpPr>
          <a:xfrm>
            <a:off x="1331640" y="1479404"/>
            <a:ext cx="6464261" cy="1839162"/>
            <a:chOff x="1331640" y="1577115"/>
            <a:chExt cx="6464261" cy="1839162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BA0FFABA-7E5E-0528-4B4D-EF6C829563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48098" y="1577115"/>
              <a:ext cx="6447803" cy="951785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79E7434-6059-FE2B-DF62-E10708F04A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31640" y="2528900"/>
              <a:ext cx="5775113" cy="887377"/>
            </a:xfrm>
            <a:prstGeom prst="rect">
              <a:avLst/>
            </a:prstGeom>
          </p:spPr>
        </p:pic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7D07331D-E8F0-9E88-7ACB-B54CB4FD3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630" y="4368062"/>
            <a:ext cx="6469271" cy="2211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053232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47EC9D-845E-2304-9706-4CA5B84AF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DISTINCT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393643-D821-1FF4-D292-2B95415CD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DISTINCT</a:t>
            </a:r>
          </a:p>
          <a:p>
            <a:pPr lvl="1"/>
            <a:r>
              <a:rPr lang="ko-KR" altLang="en-US" dirty="0"/>
              <a:t>데이터를 조회할 때 중복된 데이터를 한 번만 보이고자 할 때 사용함</a:t>
            </a:r>
          </a:p>
          <a:p>
            <a:pPr lvl="1"/>
            <a:r>
              <a:rPr lang="en-US" altLang="ko-KR" dirty="0"/>
              <a:t>SELECT</a:t>
            </a:r>
            <a:r>
              <a:rPr lang="ko-KR" altLang="en-US" dirty="0"/>
              <a:t>절에 </a:t>
            </a:r>
            <a:r>
              <a:rPr lang="en-US" altLang="ko-KR" dirty="0"/>
              <a:t>DISTINCT</a:t>
            </a:r>
            <a:r>
              <a:rPr lang="ko-KR" altLang="en-US" dirty="0"/>
              <a:t>를 넣으면 중복된 값은 제거한 결과를 보여줌</a:t>
            </a:r>
          </a:p>
        </p:txBody>
      </p:sp>
      <p:pic>
        <p:nvPicPr>
          <p:cNvPr id="5" name="그림 4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D46C3C0D-0185-9438-1DAF-FBEAD4B7A1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0" y="3068960"/>
            <a:ext cx="2857500" cy="2684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296900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47EC9D-845E-2304-9706-4CA5B84AF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DISTINCT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393643-D821-1FF4-D292-2B95415CD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[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예제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2-7]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고객 테이블의 도시 컬럼에 들어있는 값 중 중복되는 도시 데이터를 한 번씩만 </a:t>
            </a:r>
            <a:r>
              <a:rPr lang="ko-KR" altLang="en-US" dirty="0" err="1">
                <a:solidFill>
                  <a:schemeClr val="tx1"/>
                </a:solidFill>
              </a:rPr>
              <a:t>보이시오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1743CF0-0E3E-4CB8-8DE9-194C8D07C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472" y="1628800"/>
            <a:ext cx="6505054" cy="234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716434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47EC9D-845E-2304-9706-4CA5B84AF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DISTINCT</a:t>
            </a:r>
            <a:endParaRPr lang="ko-KR" altLang="en-US" dirty="0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02B3C750-4B5C-8D8F-5D95-941E9F6333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0811" y="1943835"/>
            <a:ext cx="6222379" cy="3111189"/>
          </a:xfrm>
        </p:spPr>
      </p:pic>
    </p:spTree>
    <p:extLst>
      <p:ext uri="{BB962C8B-B14F-4D97-AF65-F5344CB8AC3E}">
        <p14:creationId xmlns:p14="http://schemas.microsoft.com/office/powerpoint/2010/main" val="394985211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719572" y="3412604"/>
            <a:ext cx="7704856" cy="1051511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SQL </a:t>
            </a:r>
            <a:r>
              <a:rPr lang="ko-KR" altLang="en-US" dirty="0"/>
              <a:t>연산자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u="sng" dirty="0"/>
              <a:t>Section 02</a:t>
            </a:r>
          </a:p>
        </p:txBody>
      </p:sp>
    </p:spTree>
    <p:extLst>
      <p:ext uri="{BB962C8B-B14F-4D97-AF65-F5344CB8AC3E}">
        <p14:creationId xmlns:p14="http://schemas.microsoft.com/office/powerpoint/2010/main" val="1206384022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6A9036-D057-C0DE-C2E3-8B07424B4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산술 연산자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545481-9B25-C814-AECE-F52F1269E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연산자</a:t>
            </a:r>
            <a:endParaRPr lang="en-US" altLang="ko-KR" dirty="0"/>
          </a:p>
          <a:p>
            <a:pPr lvl="1"/>
            <a:r>
              <a:rPr lang="ko-KR" altLang="en-US" dirty="0"/>
              <a:t>변수나 값의 연산을 위해 사용되는 부호</a:t>
            </a:r>
            <a:endParaRPr lang="en-US" altLang="ko-KR" dirty="0"/>
          </a:p>
          <a:p>
            <a:pPr lvl="1"/>
            <a:r>
              <a:rPr lang="en-US" altLang="ko-KR" dirty="0"/>
              <a:t>SQL</a:t>
            </a:r>
            <a:r>
              <a:rPr lang="ko-KR" altLang="en-US" dirty="0"/>
              <a:t>에서 연산자는 단독으로 사용할 수 없음</a:t>
            </a:r>
            <a:r>
              <a:rPr lang="en-US" altLang="ko-KR" dirty="0"/>
              <a:t> </a:t>
            </a:r>
          </a:p>
          <a:p>
            <a:pPr lvl="1"/>
            <a:r>
              <a:rPr lang="ko-KR" altLang="en-US" dirty="0"/>
              <a:t>컬럼이나 상수 등과 함께 사용하여 여러 가지 계산 작업을 수행할 수 있음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산술 연산자</a:t>
            </a:r>
            <a:endParaRPr lang="en-US" altLang="ko-KR" dirty="0"/>
          </a:p>
          <a:p>
            <a:pPr lvl="1"/>
            <a:r>
              <a:rPr lang="ko-KR" altLang="en-US" dirty="0"/>
              <a:t>더하기</a:t>
            </a:r>
            <a:r>
              <a:rPr lang="en-US" altLang="ko-KR" dirty="0"/>
              <a:t>(+), </a:t>
            </a:r>
            <a:r>
              <a:rPr lang="ko-KR" altLang="en-US" dirty="0"/>
              <a:t>빼기</a:t>
            </a:r>
            <a:r>
              <a:rPr lang="en-US" altLang="ko-KR" dirty="0"/>
              <a:t>(-), </a:t>
            </a:r>
            <a:r>
              <a:rPr lang="ko-KR" altLang="en-US" dirty="0"/>
              <a:t>곱하기</a:t>
            </a:r>
            <a:r>
              <a:rPr lang="en-US" altLang="ko-KR" dirty="0"/>
              <a:t>(*), </a:t>
            </a:r>
            <a:r>
              <a:rPr lang="ko-KR" altLang="en-US" dirty="0"/>
              <a:t>나누기</a:t>
            </a:r>
            <a:r>
              <a:rPr lang="en-US" altLang="ko-KR" dirty="0"/>
              <a:t>(/), </a:t>
            </a:r>
            <a:r>
              <a:rPr lang="ko-KR" altLang="en-US" dirty="0"/>
              <a:t>나머지</a:t>
            </a:r>
            <a:r>
              <a:rPr lang="en-US" altLang="ko-KR" dirty="0"/>
              <a:t>(%) </a:t>
            </a:r>
          </a:p>
          <a:p>
            <a:pPr lvl="1"/>
            <a:r>
              <a:rPr lang="en-US" altLang="ko-KR" dirty="0"/>
              <a:t>DIV </a:t>
            </a:r>
            <a:r>
              <a:rPr lang="ko-KR" altLang="en-US" dirty="0"/>
              <a:t>연산자 </a:t>
            </a:r>
            <a:r>
              <a:rPr lang="en-US" altLang="ko-KR" dirty="0"/>
              <a:t>: </a:t>
            </a:r>
            <a:r>
              <a:rPr lang="ko-KR" altLang="en-US" dirty="0"/>
              <a:t>나누기에서 정수 결과를 얻을 때 사용</a:t>
            </a:r>
            <a:endParaRPr lang="en-US" altLang="ko-KR" dirty="0"/>
          </a:p>
          <a:p>
            <a:pPr lvl="1"/>
            <a:r>
              <a:rPr lang="en-US" altLang="ko-KR" dirty="0"/>
              <a:t>% </a:t>
            </a:r>
            <a:r>
              <a:rPr lang="ko-KR" altLang="en-US" dirty="0"/>
              <a:t>또는 </a:t>
            </a:r>
            <a:r>
              <a:rPr lang="en-US" altLang="ko-KR" dirty="0"/>
              <a:t>MOD </a:t>
            </a:r>
            <a:r>
              <a:rPr lang="ko-KR" altLang="en-US" dirty="0"/>
              <a:t>연산자 </a:t>
            </a:r>
            <a:r>
              <a:rPr lang="en-US" altLang="ko-KR" dirty="0"/>
              <a:t>: </a:t>
            </a:r>
            <a:r>
              <a:rPr lang="ko-KR" altLang="en-US" dirty="0"/>
              <a:t>나머지 구하기</a:t>
            </a:r>
          </a:p>
        </p:txBody>
      </p:sp>
    </p:spTree>
    <p:extLst>
      <p:ext uri="{BB962C8B-B14F-4D97-AF65-F5344CB8AC3E}">
        <p14:creationId xmlns:p14="http://schemas.microsoft.com/office/powerpoint/2010/main" val="454757505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6A9036-D057-C0DE-C2E3-8B07424B4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산술 연산자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545481-9B25-C814-AECE-F52F1269E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[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예제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2-8]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두 개의 숫자 </a:t>
            </a:r>
            <a:r>
              <a:rPr lang="en-US" altLang="ko-KR" dirty="0">
                <a:solidFill>
                  <a:schemeClr val="tx1"/>
                </a:solidFill>
              </a:rPr>
              <a:t>23</a:t>
            </a:r>
            <a:r>
              <a:rPr lang="ko-KR" altLang="en-US" dirty="0">
                <a:solidFill>
                  <a:schemeClr val="tx1"/>
                </a:solidFill>
              </a:rPr>
              <a:t>과 </a:t>
            </a:r>
            <a:r>
              <a:rPr lang="en-US" altLang="ko-KR" dirty="0">
                <a:solidFill>
                  <a:schemeClr val="tx1"/>
                </a:solidFill>
              </a:rPr>
              <a:t>5</a:t>
            </a:r>
            <a:r>
              <a:rPr lang="ko-KR" altLang="en-US" dirty="0">
                <a:solidFill>
                  <a:schemeClr val="tx1"/>
                </a:solidFill>
              </a:rPr>
              <a:t>로 산술 연산자 </a:t>
            </a:r>
            <a:r>
              <a:rPr lang="en-US" altLang="ko-KR" dirty="0">
                <a:solidFill>
                  <a:schemeClr val="tx1"/>
                </a:solidFill>
              </a:rPr>
              <a:t>+, -, *, /, %</a:t>
            </a:r>
            <a:r>
              <a:rPr lang="ko-KR" altLang="en-US" dirty="0">
                <a:solidFill>
                  <a:schemeClr val="tx1"/>
                </a:solidFill>
              </a:rPr>
              <a:t>를 사용한 결과를 </a:t>
            </a:r>
            <a:r>
              <a:rPr lang="ko-KR" altLang="en-US" dirty="0" err="1">
                <a:solidFill>
                  <a:schemeClr val="tx1"/>
                </a:solidFill>
              </a:rPr>
              <a:t>나타내시오</a:t>
            </a:r>
            <a:r>
              <a:rPr lang="en-US" altLang="ko-KR" dirty="0">
                <a:solidFill>
                  <a:schemeClr val="tx1"/>
                </a:solidFill>
              </a:rPr>
              <a:t>. DIV, MOD </a:t>
            </a:r>
            <a:r>
              <a:rPr lang="ko-KR" altLang="en-US" dirty="0">
                <a:solidFill>
                  <a:schemeClr val="tx1"/>
                </a:solidFill>
              </a:rPr>
              <a:t>연산자의 사용 결과도 함께 확인해봅니다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AB6EC1F-7ECD-D6FC-72A4-80CEF19D1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052" y="1898830"/>
            <a:ext cx="6497896" cy="2812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58163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281272-785C-836C-25DD-639846B3D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비교 연산자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DF36BB-C647-A1F1-AAE6-92207B2C7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비교 연산자</a:t>
            </a:r>
            <a:endParaRPr lang="en-US" altLang="ko-KR" dirty="0"/>
          </a:p>
          <a:p>
            <a:pPr lvl="1"/>
            <a:r>
              <a:rPr lang="ko-KR" altLang="en-US" dirty="0"/>
              <a:t>두 값을 비교하여 조건에 맞는 결과를 얻고자 할 때 사용하는 연산자</a:t>
            </a:r>
            <a:endParaRPr lang="en-US" altLang="ko-KR" dirty="0"/>
          </a:p>
          <a:p>
            <a:pPr lvl="1"/>
            <a:r>
              <a:rPr lang="en-US" altLang="ko-KR" dirty="0"/>
              <a:t>1(True)</a:t>
            </a:r>
            <a:r>
              <a:rPr lang="ko-KR" altLang="en-US" dirty="0"/>
              <a:t>이나 </a:t>
            </a:r>
            <a:r>
              <a:rPr lang="en-US" altLang="ko-KR" dirty="0"/>
              <a:t>0(False) </a:t>
            </a:r>
            <a:r>
              <a:rPr lang="ko-KR" altLang="en-US" dirty="0"/>
              <a:t>값이 반환됨</a:t>
            </a:r>
            <a:endParaRPr lang="en-US" altLang="ko-KR" dirty="0"/>
          </a:p>
          <a:p>
            <a:pPr lvl="1"/>
            <a:r>
              <a:rPr lang="ko-KR" altLang="en-US" dirty="0"/>
              <a:t>크거나 같다</a:t>
            </a:r>
            <a:r>
              <a:rPr lang="en-US" altLang="ko-KR" dirty="0"/>
              <a:t>(</a:t>
            </a:r>
            <a:r>
              <a:rPr lang="ko-KR" altLang="en-US" dirty="0"/>
              <a:t>＞</a:t>
            </a:r>
            <a:r>
              <a:rPr lang="en-US" altLang="ko-KR" dirty="0"/>
              <a:t>=), </a:t>
            </a:r>
            <a:r>
              <a:rPr lang="ko-KR" altLang="en-US" dirty="0"/>
              <a:t>작거나 같다</a:t>
            </a:r>
            <a:r>
              <a:rPr lang="en-US" altLang="ko-KR" dirty="0"/>
              <a:t>(</a:t>
            </a:r>
            <a:r>
              <a:rPr lang="ko-KR" altLang="en-US" dirty="0"/>
              <a:t>＜</a:t>
            </a:r>
            <a:r>
              <a:rPr lang="en-US" altLang="ko-KR" dirty="0"/>
              <a:t>=), </a:t>
            </a:r>
            <a:r>
              <a:rPr lang="ko-KR" altLang="en-US" dirty="0"/>
              <a:t>크다</a:t>
            </a:r>
            <a:r>
              <a:rPr lang="en-US" altLang="ko-KR" dirty="0"/>
              <a:t>(</a:t>
            </a:r>
            <a:r>
              <a:rPr lang="ko-KR" altLang="en-US" dirty="0"/>
              <a:t>＞</a:t>
            </a:r>
            <a:r>
              <a:rPr lang="en-US" altLang="ko-KR" dirty="0"/>
              <a:t>), </a:t>
            </a:r>
            <a:r>
              <a:rPr lang="ko-KR" altLang="en-US" dirty="0"/>
              <a:t>작다</a:t>
            </a:r>
            <a:r>
              <a:rPr lang="en-US" altLang="ko-KR" dirty="0"/>
              <a:t>(</a:t>
            </a:r>
            <a:r>
              <a:rPr lang="ko-KR" altLang="en-US" dirty="0"/>
              <a:t>＜</a:t>
            </a:r>
            <a:r>
              <a:rPr lang="en-US" altLang="ko-KR" dirty="0"/>
              <a:t>), </a:t>
            </a:r>
            <a:r>
              <a:rPr lang="ko-KR" altLang="en-US" dirty="0"/>
              <a:t>같다</a:t>
            </a:r>
            <a:r>
              <a:rPr lang="en-US" altLang="ko-KR" dirty="0"/>
              <a:t>(=), </a:t>
            </a:r>
            <a:r>
              <a:rPr lang="ko-KR" altLang="en-US" dirty="0"/>
              <a:t>같지 않다</a:t>
            </a:r>
            <a:r>
              <a:rPr lang="en-US" altLang="ko-KR" dirty="0"/>
              <a:t>(!= </a:t>
            </a:r>
            <a:r>
              <a:rPr lang="ko-KR" altLang="en-US" dirty="0"/>
              <a:t>또는 ＜＞</a:t>
            </a:r>
            <a:r>
              <a:rPr lang="en-US" altLang="ko-KR" dirty="0"/>
              <a:t>)</a:t>
            </a:r>
            <a:r>
              <a:rPr lang="ko-KR" altLang="en-US" dirty="0"/>
              <a:t>가 있음</a:t>
            </a:r>
          </a:p>
        </p:txBody>
      </p:sp>
    </p:spTree>
    <p:extLst>
      <p:ext uri="{BB962C8B-B14F-4D97-AF65-F5344CB8AC3E}">
        <p14:creationId xmlns:p14="http://schemas.microsoft.com/office/powerpoint/2010/main" val="1356972943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281272-785C-836C-25DD-639846B3D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비교 연산자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DF36BB-C647-A1F1-AAE6-92207B2C7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[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예제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2-9]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두 개의 숫자 </a:t>
            </a:r>
            <a:r>
              <a:rPr lang="en-US" altLang="ko-KR" dirty="0">
                <a:solidFill>
                  <a:schemeClr val="tx1"/>
                </a:solidFill>
              </a:rPr>
              <a:t>23</a:t>
            </a:r>
            <a:r>
              <a:rPr lang="ko-KR" altLang="en-US" dirty="0">
                <a:solidFill>
                  <a:schemeClr val="tx1"/>
                </a:solidFill>
              </a:rPr>
              <a:t>과 </a:t>
            </a:r>
            <a:r>
              <a:rPr lang="en-US" altLang="ko-KR" dirty="0">
                <a:solidFill>
                  <a:schemeClr val="tx1"/>
                </a:solidFill>
              </a:rPr>
              <a:t>5</a:t>
            </a:r>
            <a:r>
              <a:rPr lang="ko-KR" altLang="en-US" dirty="0">
                <a:solidFill>
                  <a:schemeClr val="tx1"/>
                </a:solidFill>
              </a:rPr>
              <a:t>로 비교 연산자 ＞</a:t>
            </a:r>
            <a:r>
              <a:rPr lang="en-US" altLang="ko-KR" dirty="0">
                <a:solidFill>
                  <a:schemeClr val="tx1"/>
                </a:solidFill>
              </a:rPr>
              <a:t>=, </a:t>
            </a:r>
            <a:r>
              <a:rPr lang="ko-KR" altLang="en-US" dirty="0">
                <a:solidFill>
                  <a:schemeClr val="tx1"/>
                </a:solidFill>
              </a:rPr>
              <a:t>＜</a:t>
            </a:r>
            <a:r>
              <a:rPr lang="en-US" altLang="ko-KR" dirty="0">
                <a:solidFill>
                  <a:schemeClr val="tx1"/>
                </a:solidFill>
              </a:rPr>
              <a:t>=, </a:t>
            </a:r>
            <a:r>
              <a:rPr lang="ko-KR" altLang="en-US" dirty="0">
                <a:solidFill>
                  <a:schemeClr val="tx1"/>
                </a:solidFill>
              </a:rPr>
              <a:t>＞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＜</a:t>
            </a:r>
            <a:r>
              <a:rPr lang="en-US" altLang="ko-KR" dirty="0">
                <a:solidFill>
                  <a:schemeClr val="tx1"/>
                </a:solidFill>
              </a:rPr>
              <a:t>, =, !=, </a:t>
            </a:r>
            <a:r>
              <a:rPr lang="ko-KR" altLang="en-US" dirty="0">
                <a:solidFill>
                  <a:schemeClr val="tx1"/>
                </a:solidFill>
              </a:rPr>
              <a:t>＜＞를 사용한 결과를 </a:t>
            </a:r>
            <a:r>
              <a:rPr lang="ko-KR" altLang="en-US" dirty="0" err="1">
                <a:solidFill>
                  <a:schemeClr val="tx1"/>
                </a:solidFill>
              </a:rPr>
              <a:t>보이시오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[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예제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2-10]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담당자가 ‘대표 </a:t>
            </a:r>
            <a:r>
              <a:rPr lang="ko-KR" altLang="en-US" dirty="0" err="1">
                <a:solidFill>
                  <a:schemeClr val="tx1"/>
                </a:solidFill>
              </a:rPr>
              <a:t>이사’가</a:t>
            </a:r>
            <a:r>
              <a:rPr lang="ko-KR" altLang="en-US" dirty="0">
                <a:solidFill>
                  <a:schemeClr val="tx1"/>
                </a:solidFill>
              </a:rPr>
              <a:t> 아닌 고객의 모든 정보를 </a:t>
            </a:r>
            <a:r>
              <a:rPr lang="ko-KR" altLang="en-US" dirty="0" err="1">
                <a:solidFill>
                  <a:schemeClr val="tx1"/>
                </a:solidFill>
              </a:rPr>
              <a:t>보이시오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986DEB3-FEBC-0224-DB4D-243E10C7B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630" y="1448780"/>
            <a:ext cx="6490740" cy="18821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5E72A92-AC6C-18F0-2272-8FFB39E08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473" y="4005240"/>
            <a:ext cx="6505053" cy="2311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926198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A7D2EC-A6E4-C745-0E82-DFD6C4426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논리 연산자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B99E05-AC0A-E631-33B0-8DAFEF476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논리 연산자</a:t>
            </a:r>
            <a:endParaRPr lang="en-US" altLang="ko-KR" dirty="0"/>
          </a:p>
          <a:p>
            <a:pPr lvl="1"/>
            <a:r>
              <a:rPr lang="ko-KR" altLang="en-US" dirty="0"/>
              <a:t>표현식이 참인지 거짓인지를 확인하기 위해 사용하는 연산자</a:t>
            </a:r>
            <a:endParaRPr lang="en-US" altLang="ko-KR" dirty="0"/>
          </a:p>
          <a:p>
            <a:pPr lvl="1"/>
            <a:r>
              <a:rPr lang="en-US" altLang="ko-KR" dirty="0"/>
              <a:t>AND</a:t>
            </a:r>
            <a:endParaRPr lang="ko-KR" altLang="en-US" dirty="0"/>
          </a:p>
          <a:p>
            <a:pPr lvl="2"/>
            <a:r>
              <a:rPr lang="ko-KR" altLang="en-US" sz="1600" dirty="0"/>
              <a:t>조건이 두 개 이상 있는 경우에 사용</a:t>
            </a:r>
            <a:endParaRPr lang="en-US" altLang="ko-KR" sz="1600" dirty="0"/>
          </a:p>
          <a:p>
            <a:pPr lvl="2"/>
            <a:r>
              <a:rPr lang="ko-KR" altLang="en-US" sz="1600" dirty="0"/>
              <a:t>모든 조건이 참</a:t>
            </a:r>
            <a:r>
              <a:rPr lang="en-US" altLang="ko-KR" sz="1600" dirty="0"/>
              <a:t>(True)</a:t>
            </a:r>
            <a:r>
              <a:rPr lang="ko-KR" altLang="en-US" sz="1600" dirty="0"/>
              <a:t>인 레코드를 반환함</a:t>
            </a:r>
            <a:endParaRPr lang="en-US" altLang="ko-KR" sz="1600" dirty="0"/>
          </a:p>
          <a:p>
            <a:pPr lvl="1"/>
            <a:r>
              <a:rPr lang="en-US" altLang="ko-KR" dirty="0"/>
              <a:t>OR</a:t>
            </a:r>
          </a:p>
          <a:p>
            <a:pPr lvl="2"/>
            <a:r>
              <a:rPr lang="ko-KR" altLang="en-US" sz="1600" dirty="0"/>
              <a:t>여러 조건 중에서 하나 이상의 조건이 참인 레코드를 반환함</a:t>
            </a:r>
            <a:endParaRPr lang="en-US" altLang="ko-KR" sz="1600" dirty="0"/>
          </a:p>
          <a:p>
            <a:pPr lvl="1"/>
            <a:r>
              <a:rPr lang="en-US" altLang="ko-KR" dirty="0"/>
              <a:t>NOT</a:t>
            </a:r>
          </a:p>
          <a:p>
            <a:pPr lvl="2"/>
            <a:r>
              <a:rPr lang="ko-KR" altLang="en-US" sz="1600" dirty="0"/>
              <a:t>부정을 의미하는 연산자</a:t>
            </a:r>
            <a:endParaRPr lang="en-US" altLang="ko-KR" sz="1600" dirty="0"/>
          </a:p>
          <a:p>
            <a:pPr lvl="1"/>
            <a:r>
              <a:rPr lang="en-US" altLang="ko-KR" dirty="0"/>
              <a:t>AND, OR, NOT </a:t>
            </a:r>
            <a:r>
              <a:rPr lang="ko-KR" altLang="en-US" dirty="0"/>
              <a:t>연산자를 교집합</a:t>
            </a:r>
            <a:r>
              <a:rPr lang="en-US" altLang="ko-KR" dirty="0"/>
              <a:t>, </a:t>
            </a:r>
            <a:r>
              <a:rPr lang="ko-KR" altLang="en-US" dirty="0"/>
              <a:t>합집합</a:t>
            </a:r>
            <a:r>
              <a:rPr lang="en-US" altLang="ko-KR" dirty="0"/>
              <a:t>, </a:t>
            </a:r>
            <a:r>
              <a:rPr lang="ko-KR" altLang="en-US" dirty="0"/>
              <a:t>여집합으로 대응시킬 수 있음</a:t>
            </a:r>
          </a:p>
        </p:txBody>
      </p:sp>
      <p:pic>
        <p:nvPicPr>
          <p:cNvPr id="5" name="그림 4" descr="텍스트, 도표, 원, 스크린샷이(가) 표시된 사진&#10;&#10;자동 생성된 설명">
            <a:extLst>
              <a:ext uri="{FF2B5EF4-FFF2-40B4-BE49-F238E27FC236}">
                <a16:creationId xmlns:a16="http://schemas.microsoft.com/office/drawing/2014/main" id="{FE443846-1121-C5F6-1F4D-21070533BB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616" y="4810724"/>
            <a:ext cx="5438768" cy="187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493162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A7D2EC-A6E4-C745-0E82-DFD6C4426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논리 연산자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B99E05-AC0A-E631-33B0-8DAFEF476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[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예제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2-11]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도시가 ‘</a:t>
            </a:r>
            <a:r>
              <a:rPr lang="ko-KR" altLang="en-US" dirty="0" err="1">
                <a:solidFill>
                  <a:schemeClr val="tx1"/>
                </a:solidFill>
              </a:rPr>
              <a:t>부산광역시’이면서</a:t>
            </a:r>
            <a:r>
              <a:rPr lang="ko-KR" altLang="en-US" dirty="0">
                <a:solidFill>
                  <a:schemeClr val="tx1"/>
                </a:solidFill>
              </a:rPr>
              <a:t> 마일리지가 </a:t>
            </a:r>
            <a:r>
              <a:rPr lang="en-US" altLang="ko-KR" dirty="0">
                <a:solidFill>
                  <a:schemeClr val="tx1"/>
                </a:solidFill>
              </a:rPr>
              <a:t>1,000</a:t>
            </a:r>
            <a:r>
              <a:rPr lang="ko-KR" altLang="en-US" dirty="0">
                <a:solidFill>
                  <a:schemeClr val="tx1"/>
                </a:solidFill>
              </a:rPr>
              <a:t>점보다 작은 고객의 모든 정보를 </a:t>
            </a:r>
            <a:r>
              <a:rPr lang="ko-KR" altLang="en-US" dirty="0" err="1">
                <a:solidFill>
                  <a:schemeClr val="tx1"/>
                </a:solidFill>
              </a:rPr>
              <a:t>보이시오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F66B63F-50A0-F301-611A-75ADAE49B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364" y="1583119"/>
            <a:ext cx="6469271" cy="200375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E942432-8BC3-E3AC-683A-7ED81FDC9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5400" y="3834045"/>
            <a:ext cx="3993201" cy="2733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953277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20C0E2-CA05-75AC-872A-4ACACCAC8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집합 연산자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0AC34A-965D-0B8F-3F35-A529B6DA2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집합 연산자</a:t>
            </a:r>
            <a:endParaRPr lang="en-US" altLang="ko-KR" dirty="0"/>
          </a:p>
          <a:p>
            <a:pPr lvl="1"/>
            <a:r>
              <a:rPr lang="en-US" altLang="ko-KR" dirty="0"/>
              <a:t>MySQL</a:t>
            </a:r>
            <a:r>
              <a:rPr lang="ko-KR" altLang="en-US" dirty="0"/>
              <a:t>은 집합 연산자 중에서 합집합에 대한 연산자만 제공함</a:t>
            </a:r>
            <a:endParaRPr lang="en-US" altLang="ko-KR" dirty="0"/>
          </a:p>
          <a:p>
            <a:pPr lvl="1"/>
            <a:r>
              <a:rPr lang="ko-KR" altLang="en-US" dirty="0"/>
              <a:t>집합 연산자를 사용한 쿼리문에는 두 개 이상의 </a:t>
            </a:r>
            <a:r>
              <a:rPr lang="en-US" altLang="ko-KR" dirty="0"/>
              <a:t>SELECT</a:t>
            </a:r>
            <a:r>
              <a:rPr lang="ko-KR" altLang="en-US" dirty="0"/>
              <a:t>문이 들어있어야 함</a:t>
            </a:r>
            <a:endParaRPr lang="en-US" altLang="ko-KR" dirty="0"/>
          </a:p>
          <a:p>
            <a:pPr lvl="1"/>
            <a:r>
              <a:rPr lang="ko-KR" altLang="en-US" dirty="0"/>
              <a:t>두 개의 </a:t>
            </a:r>
            <a:r>
              <a:rPr lang="en-US" altLang="ko-KR" dirty="0"/>
              <a:t>SELECT</a:t>
            </a:r>
            <a:r>
              <a:rPr lang="ko-KR" altLang="en-US" dirty="0"/>
              <a:t>문 사이에 집합 연산자를 </a:t>
            </a:r>
            <a:r>
              <a:rPr lang="ko-KR" altLang="en-US" dirty="0" err="1"/>
              <a:t>넣어줌</a:t>
            </a:r>
            <a:endParaRPr lang="en-US" altLang="ko-KR" dirty="0"/>
          </a:p>
          <a:p>
            <a:pPr lvl="1"/>
            <a:r>
              <a:rPr lang="en-US" altLang="ko-KR" dirty="0"/>
              <a:t>UNION</a:t>
            </a:r>
          </a:p>
          <a:p>
            <a:pPr lvl="2"/>
            <a:r>
              <a:rPr lang="ko-KR" altLang="en-US" sz="1600" dirty="0"/>
              <a:t>합집합 연산자</a:t>
            </a:r>
            <a:endParaRPr lang="en-US" altLang="ko-KR" sz="1600" dirty="0"/>
          </a:p>
          <a:p>
            <a:pPr lvl="2"/>
            <a:r>
              <a:rPr lang="en-US" altLang="ko-KR" sz="1600" dirty="0"/>
              <a:t>UNION ALL : </a:t>
            </a:r>
            <a:r>
              <a:rPr lang="ko-KR" altLang="en-US" sz="1600" dirty="0"/>
              <a:t>중복된 레코드까지 모두 다 나타내는 합집합 연산자</a:t>
            </a:r>
            <a:endParaRPr lang="en-US" altLang="ko-KR" sz="1600" dirty="0"/>
          </a:p>
          <a:p>
            <a:pPr lvl="1"/>
            <a:r>
              <a:rPr lang="en-US" altLang="ko-KR" dirty="0"/>
              <a:t>UNION </a:t>
            </a:r>
            <a:r>
              <a:rPr lang="ko-KR" altLang="en-US" dirty="0"/>
              <a:t>연산자를 사용할 때는 주의할 점</a:t>
            </a:r>
            <a:endParaRPr lang="en-US" altLang="ko-KR" dirty="0"/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600" dirty="0"/>
              <a:t>각 </a:t>
            </a:r>
            <a:r>
              <a:rPr lang="en-US" altLang="ko-KR" sz="1600" dirty="0"/>
              <a:t>SELECT</a:t>
            </a:r>
            <a:r>
              <a:rPr lang="ko-KR" altLang="en-US" sz="1600" dirty="0"/>
              <a:t>문에서 컬럼의 개수는 동일해야 한다</a:t>
            </a:r>
            <a:r>
              <a:rPr lang="en-US" altLang="ko-KR" sz="1600" dirty="0"/>
              <a:t>.</a:t>
            </a:r>
          </a:p>
          <a:p>
            <a:pPr marL="1257300" lvl="2" indent="-342900">
              <a:buFont typeface="+mj-ea"/>
              <a:buAutoNum type="circleNumDbPlain"/>
            </a:pPr>
            <a:r>
              <a:rPr lang="ko-KR" altLang="en-US" sz="1600" dirty="0"/>
              <a:t>각 </a:t>
            </a:r>
            <a:r>
              <a:rPr lang="en-US" altLang="ko-KR" sz="1600" dirty="0"/>
              <a:t>SELECT</a:t>
            </a:r>
            <a:r>
              <a:rPr lang="ko-KR" altLang="en-US" sz="1600" dirty="0"/>
              <a:t>문에서 같은 위치에 존재하는 컬럼의 데이터 타입은 동일하거나</a:t>
            </a:r>
            <a:r>
              <a:rPr lang="en-US" altLang="ko-KR" sz="1600" dirty="0"/>
              <a:t>, </a:t>
            </a:r>
            <a:r>
              <a:rPr lang="ko-KR" altLang="en-US" sz="1600" dirty="0"/>
              <a:t>상호 호환이 가능해야 함</a:t>
            </a:r>
          </a:p>
        </p:txBody>
      </p:sp>
    </p:spTree>
    <p:extLst>
      <p:ext uri="{BB962C8B-B14F-4D97-AF65-F5344CB8AC3E}">
        <p14:creationId xmlns:p14="http://schemas.microsoft.com/office/powerpoint/2010/main" val="3905495664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20C0E2-CA05-75AC-872A-4ACACCAC8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집합 연산자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0AC34A-965D-0B8F-3F35-A529B6DA2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집합 연산자</a:t>
            </a:r>
            <a:endParaRPr lang="en-US" altLang="ko-KR" dirty="0"/>
          </a:p>
        </p:txBody>
      </p:sp>
      <p:pic>
        <p:nvPicPr>
          <p:cNvPr id="5" name="그림 4" descr="텍스트, 스크린샷, 도표, 원이(가) 표시된 사진&#10;&#10;자동 생성된 설명">
            <a:extLst>
              <a:ext uri="{FF2B5EF4-FFF2-40B4-BE49-F238E27FC236}">
                <a16:creationId xmlns:a16="http://schemas.microsoft.com/office/drawing/2014/main" id="{B7FAF8FA-8DCA-DF2E-9F7E-B3C44321B4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965" y="1651063"/>
            <a:ext cx="7124070" cy="3983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06458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20C0E2-CA05-75AC-872A-4ACACCAC8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집합 연산자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0AC34A-965D-0B8F-3F35-A529B6DA2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[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예제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2-12]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‘</a:t>
            </a:r>
            <a:r>
              <a:rPr lang="ko-KR" altLang="en-US" dirty="0" err="1">
                <a:solidFill>
                  <a:schemeClr val="tx1"/>
                </a:solidFill>
              </a:rPr>
              <a:t>부산광역시’에</a:t>
            </a:r>
            <a:r>
              <a:rPr lang="ko-KR" altLang="en-US" dirty="0">
                <a:solidFill>
                  <a:schemeClr val="tx1"/>
                </a:solidFill>
              </a:rPr>
              <a:t> 살거나 마일리지가 </a:t>
            </a:r>
            <a:r>
              <a:rPr lang="en-US" altLang="ko-KR" dirty="0">
                <a:solidFill>
                  <a:schemeClr val="tx1"/>
                </a:solidFill>
              </a:rPr>
              <a:t>1,000</a:t>
            </a:r>
            <a:r>
              <a:rPr lang="ko-KR" altLang="en-US" dirty="0">
                <a:solidFill>
                  <a:schemeClr val="tx1"/>
                </a:solidFill>
              </a:rPr>
              <a:t>점보다 작은 고객에 대하여 고객번호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담당자명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마일리지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도시를 </a:t>
            </a:r>
            <a:r>
              <a:rPr lang="ko-KR" altLang="en-US" dirty="0" err="1">
                <a:solidFill>
                  <a:schemeClr val="tx1"/>
                </a:solidFill>
              </a:rPr>
              <a:t>보이시오</a:t>
            </a:r>
            <a:r>
              <a:rPr lang="en-US" altLang="ko-KR" dirty="0">
                <a:solidFill>
                  <a:schemeClr val="tx1"/>
                </a:solidFill>
              </a:rPr>
              <a:t>. </a:t>
            </a:r>
            <a:r>
              <a:rPr lang="ko-KR" altLang="en-US" dirty="0">
                <a:solidFill>
                  <a:schemeClr val="tx1"/>
                </a:solidFill>
              </a:rPr>
              <a:t>이때 결과는 고객번호 순으로 정렬합니다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D539058-DBCE-072C-E91D-3DC952AE38F7}"/>
              </a:ext>
            </a:extLst>
          </p:cNvPr>
          <p:cNvGrpSpPr/>
          <p:nvPr/>
        </p:nvGrpSpPr>
        <p:grpSpPr>
          <a:xfrm>
            <a:off x="1315587" y="1808820"/>
            <a:ext cx="6498205" cy="4926215"/>
            <a:chOff x="1315587" y="1940494"/>
            <a:chExt cx="6498205" cy="4926215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50D5B4A6-0E48-0008-ED02-EDDF8F8A7E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30208" y="1940494"/>
              <a:ext cx="6483584" cy="3513731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A4DB3B59-68DF-3361-FB73-1BADA978F6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15587" y="5449767"/>
              <a:ext cx="3155916" cy="14169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68423447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20C0E2-CA05-75AC-872A-4ACACCAC8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집합 연산자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0AC34A-965D-0B8F-3F35-A529B6DA2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[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예제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2-12]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‘</a:t>
            </a:r>
            <a:r>
              <a:rPr lang="ko-KR" altLang="en-US" dirty="0" err="1">
                <a:solidFill>
                  <a:schemeClr val="tx1"/>
                </a:solidFill>
              </a:rPr>
              <a:t>부산광역시’에</a:t>
            </a:r>
            <a:r>
              <a:rPr lang="ko-KR" altLang="en-US" dirty="0">
                <a:solidFill>
                  <a:schemeClr val="tx1"/>
                </a:solidFill>
              </a:rPr>
              <a:t> 살거나 마일리지가 </a:t>
            </a:r>
            <a:r>
              <a:rPr lang="en-US" altLang="ko-KR" dirty="0">
                <a:solidFill>
                  <a:schemeClr val="tx1"/>
                </a:solidFill>
              </a:rPr>
              <a:t>1,000</a:t>
            </a:r>
            <a:r>
              <a:rPr lang="ko-KR" altLang="en-US" dirty="0">
                <a:solidFill>
                  <a:schemeClr val="tx1"/>
                </a:solidFill>
              </a:rPr>
              <a:t>점보다 작은 고객에 대하여 고객번호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담당자명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마일리지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도시를 </a:t>
            </a:r>
            <a:r>
              <a:rPr lang="ko-KR" altLang="en-US" dirty="0" err="1">
                <a:solidFill>
                  <a:schemeClr val="tx1"/>
                </a:solidFill>
              </a:rPr>
              <a:t>보이시오</a:t>
            </a:r>
            <a:r>
              <a:rPr lang="en-US" altLang="ko-KR" dirty="0">
                <a:solidFill>
                  <a:schemeClr val="tx1"/>
                </a:solidFill>
              </a:rPr>
              <a:t>. </a:t>
            </a:r>
            <a:r>
              <a:rPr lang="ko-KR" altLang="en-US" dirty="0">
                <a:solidFill>
                  <a:schemeClr val="tx1"/>
                </a:solidFill>
              </a:rPr>
              <a:t>이때 결과는 고객번호 순으로 정렬합니다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lvl="1"/>
            <a:r>
              <a:rPr lang="en-US" altLang="ko-KR" dirty="0">
                <a:solidFill>
                  <a:schemeClr val="tx1"/>
                </a:solidFill>
              </a:rPr>
              <a:t>OR </a:t>
            </a:r>
            <a:r>
              <a:rPr lang="ko-KR" altLang="en-US" dirty="0">
                <a:solidFill>
                  <a:schemeClr val="tx1"/>
                </a:solidFill>
              </a:rPr>
              <a:t>연산자를 사용한 해결법</a:t>
            </a:r>
            <a:endParaRPr lang="en-US" altLang="ko-KR" dirty="0">
              <a:solidFill>
                <a:schemeClr val="tx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0BABA81-8F36-90DA-7AA3-C94876F4E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208" y="2168860"/>
            <a:ext cx="6483584" cy="211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841540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CC1B27-4B1E-772E-8346-E00833A9D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IS NULL </a:t>
            </a:r>
            <a:r>
              <a:rPr lang="ko-KR" altLang="en-US" dirty="0"/>
              <a:t>연산자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E22FD3-9583-B9D6-93CA-B49F2D68B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NULL(Unknown Value)</a:t>
            </a:r>
          </a:p>
          <a:p>
            <a:pPr lvl="1"/>
            <a:r>
              <a:rPr lang="en-US" altLang="ko-KR" dirty="0"/>
              <a:t>NULL</a:t>
            </a:r>
            <a:r>
              <a:rPr lang="ko-KR" altLang="en-US" dirty="0"/>
              <a:t>은 알 수 없는 값을 의미함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0</a:t>
            </a:r>
            <a:r>
              <a:rPr lang="ko-KR" altLang="en-US" dirty="0"/>
              <a:t>이나 빈 문자열</a:t>
            </a:r>
            <a:r>
              <a:rPr lang="en-US" altLang="ko-KR" dirty="0"/>
              <a:t>(Empty String)</a:t>
            </a:r>
            <a:r>
              <a:rPr lang="ko-KR" altLang="en-US" dirty="0"/>
              <a:t>과는 다른 의미함</a:t>
            </a:r>
            <a:endParaRPr lang="en-US" altLang="ko-KR" dirty="0"/>
          </a:p>
          <a:p>
            <a:pPr lvl="1"/>
            <a:r>
              <a:rPr lang="ko-KR" altLang="en-US" dirty="0"/>
              <a:t>컬럼에 값이 들어있지 않은 데이터를 검색하기 위해서는 </a:t>
            </a:r>
            <a:r>
              <a:rPr lang="en-US" altLang="ko-KR" dirty="0"/>
              <a:t>IS NULL</a:t>
            </a:r>
            <a:r>
              <a:rPr lang="ko-KR" altLang="en-US" dirty="0"/>
              <a:t>을 사용해야 함</a:t>
            </a:r>
            <a:endParaRPr lang="en-US" altLang="ko-KR" dirty="0"/>
          </a:p>
          <a:p>
            <a:pPr lvl="2"/>
            <a:r>
              <a:rPr lang="en-US" altLang="ko-KR" dirty="0"/>
              <a:t>= NULL</a:t>
            </a:r>
            <a:r>
              <a:rPr lang="ko-KR" altLang="en-US" dirty="0"/>
              <a:t>이 아님</a:t>
            </a:r>
            <a:endParaRPr lang="en-US" altLang="ko-KR" dirty="0"/>
          </a:p>
          <a:p>
            <a:pPr lvl="2"/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2210431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CC1B27-4B1E-772E-8346-E00833A9D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IS NULL </a:t>
            </a:r>
            <a:r>
              <a:rPr lang="ko-KR" altLang="en-US" dirty="0"/>
              <a:t>연산자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E22FD3-9583-B9D6-93CA-B49F2D68B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[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예제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2-13]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지역에 값이 들어있지 않는 고객의 정보를 </a:t>
            </a:r>
            <a:r>
              <a:rPr lang="ko-KR" altLang="en-US" dirty="0" err="1">
                <a:solidFill>
                  <a:schemeClr val="tx1"/>
                </a:solidFill>
              </a:rPr>
              <a:t>보이시오</a:t>
            </a:r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pPr lvl="1"/>
            <a:r>
              <a:rPr lang="ko-KR" altLang="en-US" dirty="0"/>
              <a:t>실행결과 </a:t>
            </a:r>
            <a:r>
              <a:rPr lang="en-US" altLang="ko-KR" dirty="0"/>
              <a:t>0</a:t>
            </a:r>
            <a:r>
              <a:rPr lang="ko-KR" altLang="en-US" dirty="0"/>
              <a:t>개의 레코드가 나옴</a:t>
            </a:r>
            <a:endParaRPr lang="en-US" altLang="ko-KR" dirty="0"/>
          </a:p>
          <a:p>
            <a:pPr lvl="1"/>
            <a:r>
              <a:rPr lang="ko-KR" altLang="en-US" dirty="0"/>
              <a:t>빈 문자열을 검색했을 때는 레코드가 검색됨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A8BBD36-D213-5CEA-E764-23CE9F8F2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630" y="1358770"/>
            <a:ext cx="6490740" cy="176759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5DCF39E-4ABC-4646-767C-CF18FE5AB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148" y="4304879"/>
            <a:ext cx="6476427" cy="94462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17D4789-463B-3863-D786-80079087DE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2148" y="5239071"/>
            <a:ext cx="5932550" cy="1445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761155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CC1B27-4B1E-772E-8346-E00833A9D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IS NULL </a:t>
            </a:r>
            <a:r>
              <a:rPr lang="ko-KR" altLang="en-US" dirty="0"/>
              <a:t>연산자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E22FD3-9583-B9D6-93CA-B49F2D68B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[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예제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2-13]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지역에 값이 들어있지 않는 고객의 정보를 </a:t>
            </a:r>
            <a:r>
              <a:rPr lang="ko-KR" altLang="en-US" dirty="0" err="1">
                <a:solidFill>
                  <a:schemeClr val="tx1"/>
                </a:solidFill>
              </a:rPr>
              <a:t>보이시오</a:t>
            </a:r>
            <a:endParaRPr lang="en-US" altLang="ko-KR" dirty="0">
              <a:solidFill>
                <a:schemeClr val="tx1"/>
              </a:solidFill>
            </a:endParaRPr>
          </a:p>
          <a:p>
            <a:pPr lvl="1"/>
            <a:r>
              <a:rPr lang="en-US" altLang="ko-KR" dirty="0">
                <a:solidFill>
                  <a:schemeClr val="tx1"/>
                </a:solidFill>
              </a:rPr>
              <a:t>IS NULL</a:t>
            </a:r>
            <a:r>
              <a:rPr lang="ko-KR" altLang="en-US" dirty="0">
                <a:solidFill>
                  <a:schemeClr val="tx1"/>
                </a:solidFill>
              </a:rPr>
              <a:t>을 사용했을 때 검색되지 않은 이유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</a:p>
          <a:p>
            <a:pPr lvl="2"/>
            <a:r>
              <a:rPr lang="en-US" altLang="ko-KR" sz="1600" dirty="0">
                <a:solidFill>
                  <a:schemeClr val="tx1"/>
                </a:solidFill>
              </a:rPr>
              <a:t>NULL</a:t>
            </a:r>
            <a:r>
              <a:rPr lang="ko-KR" altLang="en-US" sz="1600" dirty="0">
                <a:solidFill>
                  <a:schemeClr val="tx1"/>
                </a:solidFill>
              </a:rPr>
              <a:t>과 빈 문자열은 의미가 서로 다르기 때문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lvl="2"/>
            <a:r>
              <a:rPr lang="en-US" altLang="ko-KR" sz="1600" dirty="0">
                <a:solidFill>
                  <a:schemeClr val="tx1"/>
                </a:solidFill>
              </a:rPr>
              <a:t>CSV </a:t>
            </a:r>
            <a:r>
              <a:rPr lang="ko-KR" altLang="en-US" sz="1600" dirty="0">
                <a:solidFill>
                  <a:schemeClr val="tx1"/>
                </a:solidFill>
              </a:rPr>
              <a:t>파일에서 테이블로 가져오기를 했을 때 값이 들어있지 않은 셀은 </a:t>
            </a:r>
            <a:r>
              <a:rPr lang="en-US" altLang="ko-KR" sz="1600" dirty="0">
                <a:solidFill>
                  <a:schemeClr val="tx1"/>
                </a:solidFill>
              </a:rPr>
              <a:t>NULL</a:t>
            </a:r>
            <a:r>
              <a:rPr lang="ko-KR" altLang="en-US" sz="1600" dirty="0">
                <a:solidFill>
                  <a:schemeClr val="tx1"/>
                </a:solidFill>
              </a:rPr>
              <a:t>이 아닌 빈 문자열로 저장됨</a:t>
            </a:r>
            <a:r>
              <a:rPr lang="en-US" altLang="ko-KR" sz="1600" dirty="0">
                <a:solidFill>
                  <a:schemeClr val="tx1"/>
                </a:solidFill>
              </a:rPr>
              <a:t> </a:t>
            </a:r>
          </a:p>
          <a:p>
            <a:pPr lvl="2"/>
            <a:r>
              <a:rPr lang="ko-KR" altLang="en-US" sz="1600" dirty="0">
                <a:solidFill>
                  <a:schemeClr val="tx1"/>
                </a:solidFill>
              </a:rPr>
              <a:t>따라서 </a:t>
            </a:r>
            <a:r>
              <a:rPr lang="en-US" altLang="ko-KR" sz="1600" dirty="0">
                <a:solidFill>
                  <a:schemeClr val="tx1"/>
                </a:solidFill>
              </a:rPr>
              <a:t>IS NULL</a:t>
            </a:r>
            <a:r>
              <a:rPr lang="ko-KR" altLang="en-US" sz="1600" dirty="0">
                <a:solidFill>
                  <a:schemeClr val="tx1"/>
                </a:solidFill>
              </a:rPr>
              <a:t>을 사용하여 레코드를 조회하면 결과가 나오지 않음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lvl="1"/>
            <a:r>
              <a:rPr lang="ko-KR" altLang="en-US" dirty="0">
                <a:solidFill>
                  <a:schemeClr val="tx1"/>
                </a:solidFill>
              </a:rPr>
              <a:t>해결 방법</a:t>
            </a:r>
            <a:r>
              <a:rPr lang="en-US" altLang="ko-KR" dirty="0">
                <a:solidFill>
                  <a:schemeClr val="tx1"/>
                </a:solidFill>
              </a:rPr>
              <a:t>) UPDATE</a:t>
            </a:r>
            <a:r>
              <a:rPr lang="ko-KR" altLang="en-US" dirty="0">
                <a:solidFill>
                  <a:schemeClr val="tx1"/>
                </a:solidFill>
              </a:rPr>
              <a:t>문으로 문자열을 </a:t>
            </a:r>
            <a:r>
              <a:rPr lang="en-US" altLang="ko-KR" dirty="0">
                <a:solidFill>
                  <a:schemeClr val="tx1"/>
                </a:solidFill>
              </a:rPr>
              <a:t>NULL</a:t>
            </a:r>
            <a:r>
              <a:rPr lang="ko-KR" altLang="en-US" dirty="0">
                <a:solidFill>
                  <a:schemeClr val="tx1"/>
                </a:solidFill>
              </a:rPr>
              <a:t>로 변경하기</a:t>
            </a:r>
            <a:endParaRPr lang="en-US" altLang="ko-KR" dirty="0">
              <a:solidFill>
                <a:schemeClr val="tx1"/>
              </a:solidFill>
            </a:endParaRPr>
          </a:p>
          <a:p>
            <a:pPr lvl="1"/>
            <a:endParaRPr lang="en-US" altLang="ko-KR" dirty="0">
              <a:solidFill>
                <a:schemeClr val="tx1"/>
              </a:solidFill>
            </a:endParaRPr>
          </a:p>
          <a:p>
            <a:pPr lvl="1"/>
            <a:endParaRPr lang="en-US" altLang="ko-KR" dirty="0">
              <a:solidFill>
                <a:schemeClr val="tx1"/>
              </a:solidFill>
            </a:endParaRPr>
          </a:p>
          <a:p>
            <a:pPr lvl="1"/>
            <a:endParaRPr lang="en-US" altLang="ko-KR" sz="1000" dirty="0">
              <a:solidFill>
                <a:schemeClr val="tx1"/>
              </a:solidFill>
            </a:endParaRPr>
          </a:p>
          <a:p>
            <a:pPr lvl="1"/>
            <a:r>
              <a:rPr lang="ko-KR" altLang="en-US" dirty="0">
                <a:solidFill>
                  <a:schemeClr val="tx1"/>
                </a:solidFill>
              </a:rPr>
              <a:t>지역 컬럼의 값이 </a:t>
            </a:r>
            <a:r>
              <a:rPr lang="en-US" altLang="ko-KR" dirty="0">
                <a:solidFill>
                  <a:schemeClr val="tx1"/>
                </a:solidFill>
              </a:rPr>
              <a:t>NULL</a:t>
            </a:r>
            <a:r>
              <a:rPr lang="ko-KR" altLang="en-US" dirty="0">
                <a:solidFill>
                  <a:schemeClr val="tx1"/>
                </a:solidFill>
              </a:rPr>
              <a:t>인 레코드를 다시 검색하기</a:t>
            </a:r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C60E9F0-7B89-41CA-FF47-5870AEE32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786" y="3644850"/>
            <a:ext cx="6476427" cy="93747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B7AF182-5046-9945-6B88-A69F34C76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894" y="5119280"/>
            <a:ext cx="6483584" cy="95894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5A21315-9633-D1A8-3756-14F9360C7D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6724" y="5119280"/>
            <a:ext cx="5425756" cy="1301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339068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CC1B27-4B1E-772E-8346-E00833A9D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IS NULL </a:t>
            </a:r>
            <a:r>
              <a:rPr lang="ko-KR" altLang="en-US" dirty="0"/>
              <a:t>연산자</a:t>
            </a:r>
          </a:p>
        </p:txBody>
      </p:sp>
      <p:pic>
        <p:nvPicPr>
          <p:cNvPr id="18" name="내용 개체 틀 17">
            <a:extLst>
              <a:ext uri="{FF2B5EF4-FFF2-40B4-BE49-F238E27FC236}">
                <a16:creationId xmlns:a16="http://schemas.microsoft.com/office/drawing/2014/main" id="{ABAA4496-8A86-46F4-CC87-6BD5A5BBFF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7218" y="617411"/>
            <a:ext cx="5989927" cy="6186964"/>
          </a:xfrm>
        </p:spPr>
      </p:pic>
    </p:spTree>
    <p:extLst>
      <p:ext uri="{BB962C8B-B14F-4D97-AF65-F5344CB8AC3E}">
        <p14:creationId xmlns:p14="http://schemas.microsoft.com/office/powerpoint/2010/main" val="270998341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3D1B48-EB36-9612-EAE0-0EDD80FA1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 IN</a:t>
            </a:r>
            <a:r>
              <a:rPr lang="ko-KR" altLang="en-US" dirty="0"/>
              <a:t>과 </a:t>
            </a:r>
            <a:r>
              <a:rPr lang="en-US" altLang="ko-KR" dirty="0"/>
              <a:t>BETWEEN...AND </a:t>
            </a:r>
            <a:r>
              <a:rPr lang="ko-KR" altLang="en-US" dirty="0"/>
              <a:t>연산자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D7AB62-568A-AC69-9C92-B541F6729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</a:t>
            </a:r>
            <a:r>
              <a:rPr lang="ko-KR" altLang="en-US" dirty="0"/>
              <a:t>과 </a:t>
            </a:r>
            <a:r>
              <a:rPr lang="en-US" altLang="ko-KR" dirty="0"/>
              <a:t>BETWEEN...AND </a:t>
            </a:r>
            <a:r>
              <a:rPr lang="ko-KR" altLang="en-US" dirty="0"/>
              <a:t>연산자</a:t>
            </a:r>
            <a:endParaRPr lang="en-US" altLang="ko-KR" dirty="0"/>
          </a:p>
          <a:p>
            <a:pPr lvl="1"/>
            <a:r>
              <a:rPr lang="en-US" altLang="ko-KR" dirty="0"/>
              <a:t>WHERE</a:t>
            </a:r>
            <a:r>
              <a:rPr lang="ko-KR" altLang="en-US" dirty="0"/>
              <a:t>절을 조금 더 쉽고 효율적으로 사용할 수 있게 도와주는 연산자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IN</a:t>
            </a:r>
          </a:p>
          <a:p>
            <a:pPr lvl="1"/>
            <a:r>
              <a:rPr lang="ko-KR" altLang="en-US" dirty="0"/>
              <a:t>동일한 컬럼에 대해서 </a:t>
            </a:r>
            <a:r>
              <a:rPr lang="en-US" altLang="ko-KR" dirty="0"/>
              <a:t>OR</a:t>
            </a:r>
            <a:r>
              <a:rPr lang="ko-KR" altLang="en-US" dirty="0"/>
              <a:t>을 수행해야 하는 경우 더 간단히 해결해주는 연산자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BETWEEN...AND</a:t>
            </a:r>
          </a:p>
          <a:p>
            <a:pPr lvl="1"/>
            <a:r>
              <a:rPr lang="ko-KR" altLang="en-US" dirty="0"/>
              <a:t>동일한 컬럼에 대해서 ‘</a:t>
            </a:r>
            <a:r>
              <a:rPr lang="en-US" altLang="ko-KR" dirty="0"/>
              <a:t>~</a:t>
            </a:r>
            <a:r>
              <a:rPr lang="ko-KR" altLang="en-US" dirty="0"/>
              <a:t>이상 </a:t>
            </a:r>
            <a:r>
              <a:rPr lang="en-US" altLang="ko-KR" dirty="0"/>
              <a:t>~</a:t>
            </a:r>
            <a:r>
              <a:rPr lang="ko-KR" altLang="en-US" dirty="0" err="1"/>
              <a:t>이하’라는</a:t>
            </a:r>
            <a:r>
              <a:rPr lang="ko-KR" altLang="en-US" dirty="0"/>
              <a:t> 조건이 있는 경우에 더 간단히 해결해주는 연산자</a:t>
            </a:r>
          </a:p>
        </p:txBody>
      </p:sp>
    </p:spTree>
    <p:extLst>
      <p:ext uri="{BB962C8B-B14F-4D97-AF65-F5344CB8AC3E}">
        <p14:creationId xmlns:p14="http://schemas.microsoft.com/office/powerpoint/2010/main" val="1088409761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3D1B48-EB36-9612-EAE0-0EDD80FA1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 IN</a:t>
            </a:r>
            <a:r>
              <a:rPr lang="ko-KR" altLang="en-US" dirty="0"/>
              <a:t>과 </a:t>
            </a:r>
            <a:r>
              <a:rPr lang="en-US" altLang="ko-KR" dirty="0"/>
              <a:t>BETWEEN...AND </a:t>
            </a:r>
            <a:r>
              <a:rPr lang="ko-KR" altLang="en-US" dirty="0"/>
              <a:t>연산자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D7AB62-568A-AC69-9C92-B541F6729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[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예제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2-14]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담당자직위가 ‘영업 </a:t>
            </a:r>
            <a:r>
              <a:rPr lang="ko-KR" altLang="en-US" dirty="0" err="1">
                <a:solidFill>
                  <a:schemeClr val="tx1"/>
                </a:solidFill>
              </a:rPr>
              <a:t>과장’이거나</a:t>
            </a:r>
            <a:r>
              <a:rPr lang="ko-KR" altLang="en-US" dirty="0">
                <a:solidFill>
                  <a:schemeClr val="tx1"/>
                </a:solidFill>
              </a:rPr>
              <a:t> ‘마케팅 </a:t>
            </a:r>
            <a:r>
              <a:rPr lang="ko-KR" altLang="en-US" dirty="0" err="1">
                <a:solidFill>
                  <a:schemeClr val="tx1"/>
                </a:solidFill>
              </a:rPr>
              <a:t>과장’인</a:t>
            </a:r>
            <a:r>
              <a:rPr lang="ko-KR" altLang="en-US" dirty="0">
                <a:solidFill>
                  <a:schemeClr val="tx1"/>
                </a:solidFill>
              </a:rPr>
              <a:t> 고객에 대하여 고객번호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담당자명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담당자직위를 </a:t>
            </a:r>
            <a:r>
              <a:rPr lang="ko-KR" altLang="en-US" dirty="0" err="1">
                <a:solidFill>
                  <a:schemeClr val="tx1"/>
                </a:solidFill>
              </a:rPr>
              <a:t>보이시오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pPr lvl="1"/>
            <a:r>
              <a:rPr lang="en-US" altLang="ko-KR" dirty="0">
                <a:solidFill>
                  <a:schemeClr val="tx1"/>
                </a:solidFill>
              </a:rPr>
              <a:t>IN</a:t>
            </a:r>
            <a:r>
              <a:rPr lang="ko-KR" altLang="en-US" dirty="0">
                <a:solidFill>
                  <a:schemeClr val="tx1"/>
                </a:solidFill>
              </a:rPr>
              <a:t>을 사용한 해결 방법</a:t>
            </a:r>
            <a:endParaRPr lang="en-US" altLang="ko-KR" dirty="0">
              <a:solidFill>
                <a:schemeClr val="tx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4D55368-BE3D-00AA-A7E0-FA848C9BA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229" y="1448780"/>
            <a:ext cx="5927541" cy="150353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E275F5B-A6C2-D20B-DE68-E5534A4D1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229" y="3429000"/>
            <a:ext cx="5935414" cy="2542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807753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3D1B48-EB36-9612-EAE0-0EDD80FA1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 IN</a:t>
            </a:r>
            <a:r>
              <a:rPr lang="ko-KR" altLang="en-US" dirty="0"/>
              <a:t>과 </a:t>
            </a:r>
            <a:r>
              <a:rPr lang="en-US" altLang="ko-KR" dirty="0"/>
              <a:t>BETWEEN...AND </a:t>
            </a:r>
            <a:r>
              <a:rPr lang="ko-KR" altLang="en-US" dirty="0"/>
              <a:t>연산자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D7AB62-568A-AC69-9C92-B541F6729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[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예제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2-15]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마일리지가 </a:t>
            </a:r>
            <a:r>
              <a:rPr lang="en-US" altLang="ko-KR" dirty="0">
                <a:solidFill>
                  <a:schemeClr val="tx1"/>
                </a:solidFill>
              </a:rPr>
              <a:t>100,000</a:t>
            </a:r>
            <a:r>
              <a:rPr lang="ko-KR" altLang="en-US" dirty="0">
                <a:solidFill>
                  <a:schemeClr val="tx1"/>
                </a:solidFill>
              </a:rPr>
              <a:t>점 이상 </a:t>
            </a:r>
            <a:r>
              <a:rPr lang="en-US" altLang="ko-KR" dirty="0">
                <a:solidFill>
                  <a:schemeClr val="tx1"/>
                </a:solidFill>
              </a:rPr>
              <a:t>200,000</a:t>
            </a:r>
            <a:r>
              <a:rPr lang="ko-KR" altLang="en-US" dirty="0">
                <a:solidFill>
                  <a:schemeClr val="tx1"/>
                </a:solidFill>
              </a:rPr>
              <a:t>점 이하인 고객에 대해 담당자명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마일리지를 </a:t>
            </a:r>
            <a:r>
              <a:rPr lang="ko-KR" altLang="en-US" dirty="0" err="1">
                <a:solidFill>
                  <a:schemeClr val="tx1"/>
                </a:solidFill>
              </a:rPr>
              <a:t>보이시오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pPr lvl="1"/>
            <a:r>
              <a:rPr lang="en-US" altLang="ko-KR" dirty="0">
                <a:solidFill>
                  <a:schemeClr val="tx1"/>
                </a:solidFill>
              </a:rPr>
              <a:t>BETWEEN...AND</a:t>
            </a:r>
            <a:r>
              <a:rPr lang="ko-KR" altLang="en-US" dirty="0">
                <a:solidFill>
                  <a:schemeClr val="tx1"/>
                </a:solidFill>
              </a:rPr>
              <a:t>를 사용한 해결 방법</a:t>
            </a:r>
            <a:endParaRPr lang="en-US" altLang="ko-KR" dirty="0">
              <a:solidFill>
                <a:schemeClr val="tx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FFCCCB8-7878-F055-1F48-A0268DE26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364" y="1493785"/>
            <a:ext cx="6469271" cy="138831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C36E07F-8818-A3AF-7A98-5C003412B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051" y="3470366"/>
            <a:ext cx="6483584" cy="118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256976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D6CF72-4FC1-B743-DFDC-EAC8FFCF3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LIKE </a:t>
            </a:r>
            <a:r>
              <a:rPr lang="ko-KR" altLang="en-US" dirty="0"/>
              <a:t>연산자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C9E637-7411-2333-AE19-F6F091151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LIKE </a:t>
            </a:r>
            <a:r>
              <a:rPr lang="ko-KR" altLang="en-US" dirty="0"/>
              <a:t>연산자</a:t>
            </a:r>
            <a:endParaRPr lang="en-US" altLang="ko-KR" dirty="0"/>
          </a:p>
          <a:p>
            <a:pPr lvl="1"/>
            <a:r>
              <a:rPr lang="ko-KR" altLang="en-US" dirty="0"/>
              <a:t>특정 문자열이 지정된 패턴과 일치하는지 확인할 때 사용함</a:t>
            </a:r>
            <a:endParaRPr lang="en-US" altLang="ko-KR" dirty="0"/>
          </a:p>
          <a:p>
            <a:pPr lvl="1"/>
            <a:r>
              <a:rPr lang="ko-KR" altLang="en-US" dirty="0"/>
              <a:t>와일드카드 문자</a:t>
            </a:r>
            <a:r>
              <a:rPr lang="en-US" altLang="ko-KR" dirty="0"/>
              <a:t>(%, _)</a:t>
            </a:r>
            <a:r>
              <a:rPr lang="ko-KR" altLang="en-US" dirty="0"/>
              <a:t>와 함께 사용하여 원하는 결과를 얻을 수 있음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LIKE</a:t>
            </a:r>
            <a:r>
              <a:rPr lang="ko-KR" altLang="en-US" dirty="0"/>
              <a:t>와 와일드카드 문자를 함께 사용하지 않으면 </a:t>
            </a:r>
            <a:r>
              <a:rPr lang="en-US" altLang="ko-KR" dirty="0"/>
              <a:t>= </a:t>
            </a:r>
            <a:r>
              <a:rPr lang="ko-KR" altLang="en-US" dirty="0"/>
              <a:t>기호를 사용한 것과 동일한 결과가 나옴</a:t>
            </a:r>
          </a:p>
        </p:txBody>
      </p:sp>
      <p:pic>
        <p:nvPicPr>
          <p:cNvPr id="5" name="그림 4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6E671BC8-C497-F64F-18A9-51CF10AF6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630" y="2843935"/>
            <a:ext cx="6490740" cy="196081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64EB3EE-5C50-CF89-4DAD-CEECAAF4A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943" y="5114142"/>
            <a:ext cx="6476427" cy="138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853263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D6CF72-4FC1-B743-DFDC-EAC8FFCF3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LIKE </a:t>
            </a:r>
            <a:r>
              <a:rPr lang="ko-KR" altLang="en-US" dirty="0"/>
              <a:t>연산자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C9E637-7411-2333-AE19-F6F091151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[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예제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2-16]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도시가 ‘</a:t>
            </a:r>
            <a:r>
              <a:rPr lang="ko-KR" altLang="en-US" dirty="0" err="1">
                <a:solidFill>
                  <a:schemeClr val="tx1"/>
                </a:solidFill>
              </a:rPr>
              <a:t>광역시’이면서</a:t>
            </a:r>
            <a:r>
              <a:rPr lang="ko-KR" altLang="en-US" dirty="0">
                <a:solidFill>
                  <a:schemeClr val="tx1"/>
                </a:solidFill>
              </a:rPr>
              <a:t> 고객번호 두 번째 글자 또는 세 번째 글자가 ‘</a:t>
            </a:r>
            <a:r>
              <a:rPr lang="en-US" altLang="ko-KR" dirty="0">
                <a:solidFill>
                  <a:schemeClr val="tx1"/>
                </a:solidFill>
              </a:rPr>
              <a:t>C’</a:t>
            </a:r>
            <a:r>
              <a:rPr lang="ko-KR" altLang="en-US" dirty="0">
                <a:solidFill>
                  <a:schemeClr val="tx1"/>
                </a:solidFill>
              </a:rPr>
              <a:t>인 고객의 모든 정보를 </a:t>
            </a:r>
            <a:r>
              <a:rPr lang="ko-KR" altLang="en-US" dirty="0" err="1">
                <a:solidFill>
                  <a:schemeClr val="tx1"/>
                </a:solidFill>
              </a:rPr>
              <a:t>보이시오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865E171-DD59-6086-BE2C-B2695750E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786" y="1673805"/>
            <a:ext cx="6476427" cy="2239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227524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D6CF72-4FC1-B743-DFDC-EAC8FFCF3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LIKE </a:t>
            </a:r>
            <a:r>
              <a:rPr lang="ko-KR" altLang="en-US" dirty="0"/>
              <a:t>연산자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C9E637-7411-2333-AE19-F6F091151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tx1"/>
                </a:solidFill>
              </a:rPr>
              <a:t>조건의 우선순위</a:t>
            </a:r>
          </a:p>
          <a:p>
            <a:pPr lvl="1"/>
            <a:r>
              <a:rPr lang="en-US" altLang="ko-KR" dirty="0">
                <a:solidFill>
                  <a:schemeClr val="tx1"/>
                </a:solidFill>
              </a:rPr>
              <a:t>WHERE</a:t>
            </a:r>
            <a:r>
              <a:rPr lang="ko-KR" altLang="en-US" dirty="0">
                <a:solidFill>
                  <a:schemeClr val="tx1"/>
                </a:solidFill>
              </a:rPr>
              <a:t>절에서 조건의 우선순위를 지정해야 하는 경우 소괄호</a:t>
            </a:r>
            <a:r>
              <a:rPr lang="en-US" altLang="ko-KR" dirty="0">
                <a:solidFill>
                  <a:schemeClr val="tx1"/>
                </a:solidFill>
              </a:rPr>
              <a:t>(( ))</a:t>
            </a:r>
            <a:r>
              <a:rPr lang="ko-KR" altLang="en-US" dirty="0">
                <a:solidFill>
                  <a:schemeClr val="tx1"/>
                </a:solidFill>
              </a:rPr>
              <a:t>를 사용함</a:t>
            </a:r>
          </a:p>
          <a:p>
            <a:pPr lvl="1"/>
            <a:r>
              <a:rPr lang="ko-KR" altLang="en-US" dirty="0">
                <a:solidFill>
                  <a:schemeClr val="tx1"/>
                </a:solidFill>
              </a:rPr>
              <a:t>우선순위를 표현하지 않은 경우에는 잘못된 결과가 반환될 수 있음</a:t>
            </a:r>
            <a:endParaRPr lang="en-US" altLang="ko-KR" dirty="0">
              <a:solidFill>
                <a:schemeClr val="tx1"/>
              </a:solidFill>
            </a:endParaRPr>
          </a:p>
          <a:p>
            <a:pPr lvl="1"/>
            <a:r>
              <a:rPr lang="en-US" altLang="ko-KR" dirty="0">
                <a:solidFill>
                  <a:schemeClr val="tx1"/>
                </a:solidFill>
              </a:rPr>
              <a:t>[</a:t>
            </a:r>
            <a:r>
              <a:rPr lang="ko-KR" altLang="en-US" dirty="0">
                <a:solidFill>
                  <a:schemeClr val="tx1"/>
                </a:solidFill>
              </a:rPr>
              <a:t>예</a:t>
            </a:r>
            <a:r>
              <a:rPr lang="en-US" altLang="ko-KR" dirty="0">
                <a:solidFill>
                  <a:schemeClr val="tx1"/>
                </a:solidFill>
              </a:rPr>
              <a:t>]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[</a:t>
            </a:r>
            <a:r>
              <a:rPr lang="ko-KR" altLang="en-US" dirty="0">
                <a:solidFill>
                  <a:schemeClr val="tx1"/>
                </a:solidFill>
              </a:rPr>
              <a:t>예제 </a:t>
            </a:r>
            <a:r>
              <a:rPr lang="en-US" altLang="ko-KR" dirty="0">
                <a:solidFill>
                  <a:schemeClr val="tx1"/>
                </a:solidFill>
              </a:rPr>
              <a:t>2-16]</a:t>
            </a:r>
            <a:r>
              <a:rPr lang="ko-KR" altLang="en-US" dirty="0">
                <a:solidFill>
                  <a:schemeClr val="tx1"/>
                </a:solidFill>
              </a:rPr>
              <a:t>에서 괄호를 넣지 않으면 </a:t>
            </a:r>
            <a:r>
              <a:rPr lang="en-US" altLang="ko-KR" dirty="0">
                <a:solidFill>
                  <a:schemeClr val="tx1"/>
                </a:solidFill>
              </a:rPr>
              <a:t>A</a:t>
            </a:r>
            <a:r>
              <a:rPr lang="ko-KR" altLang="en-US" dirty="0">
                <a:solidFill>
                  <a:schemeClr val="tx1"/>
                </a:solidFill>
              </a:rPr>
              <a:t>가 먼저 수행된 후에 </a:t>
            </a:r>
            <a:r>
              <a:rPr lang="en-US" altLang="ko-KR" dirty="0">
                <a:solidFill>
                  <a:schemeClr val="tx1"/>
                </a:solidFill>
              </a:rPr>
              <a:t>B</a:t>
            </a:r>
            <a:r>
              <a:rPr lang="ko-KR" altLang="en-US" dirty="0">
                <a:solidFill>
                  <a:schemeClr val="tx1"/>
                </a:solidFill>
              </a:rPr>
              <a:t>가 수행됨</a:t>
            </a:r>
            <a:endParaRPr lang="en-US" altLang="ko-KR" dirty="0">
              <a:solidFill>
                <a:schemeClr val="tx1"/>
              </a:solidFill>
            </a:endParaRPr>
          </a:p>
          <a:p>
            <a:pPr lvl="1"/>
            <a:endParaRPr lang="en-US" altLang="ko-KR" dirty="0">
              <a:solidFill>
                <a:schemeClr val="tx1"/>
              </a:solidFill>
            </a:endParaRPr>
          </a:p>
          <a:p>
            <a:pPr lvl="1"/>
            <a:endParaRPr lang="en-US" altLang="ko-KR" dirty="0">
              <a:solidFill>
                <a:schemeClr val="tx1"/>
              </a:solidFill>
            </a:endParaRPr>
          </a:p>
          <a:p>
            <a:pPr lvl="1"/>
            <a:endParaRPr lang="en-US" altLang="ko-KR" dirty="0">
              <a:solidFill>
                <a:schemeClr val="tx1"/>
              </a:solidFill>
            </a:endParaRPr>
          </a:p>
          <a:p>
            <a:pPr lvl="1"/>
            <a:r>
              <a:rPr lang="ko-KR" altLang="en-US" dirty="0">
                <a:solidFill>
                  <a:schemeClr val="tx1"/>
                </a:solidFill>
              </a:rPr>
              <a:t>따라서 </a:t>
            </a:r>
            <a:r>
              <a:rPr lang="en-US" altLang="ko-KR" dirty="0">
                <a:solidFill>
                  <a:schemeClr val="tx1"/>
                </a:solidFill>
              </a:rPr>
              <a:t>C</a:t>
            </a:r>
            <a:r>
              <a:rPr lang="ko-KR" altLang="en-US" dirty="0">
                <a:solidFill>
                  <a:schemeClr val="tx1"/>
                </a:solidFill>
              </a:rPr>
              <a:t>와 같이 괄호를 사용하여 우선순위를 명시적으로 지정해야 함</a:t>
            </a:r>
            <a:endParaRPr lang="en-US" altLang="ko-KR" dirty="0">
              <a:solidFill>
                <a:schemeClr val="tx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AE704BE-DA9B-C0DC-D7FE-19B6F3C71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630" y="2573905"/>
            <a:ext cx="6032739" cy="91600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9F3CA7B-5581-310A-4FF9-38D8DF95B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630" y="4149080"/>
            <a:ext cx="5911082" cy="86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741033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D6CF72-4FC1-B743-DFDC-EAC8FFCF3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LIKE </a:t>
            </a:r>
            <a:r>
              <a:rPr lang="ko-KR" altLang="en-US" dirty="0"/>
              <a:t>연산자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82C87D6B-C979-BA85-9154-9AD757BE8F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2328" y="1474066"/>
            <a:ext cx="6039706" cy="4225780"/>
          </a:xfrm>
        </p:spPr>
      </p:pic>
    </p:spTree>
    <p:extLst>
      <p:ext uri="{BB962C8B-B14F-4D97-AF65-F5344CB8AC3E}">
        <p14:creationId xmlns:p14="http://schemas.microsoft.com/office/powerpoint/2010/main" val="2299657834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D6CF72-4FC1-B743-DFDC-EAC8FFCF3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LIKE </a:t>
            </a:r>
            <a:r>
              <a:rPr lang="ko-KR" altLang="en-US" dirty="0"/>
              <a:t>연산자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AAE7AB4E-4D00-2F23-DD97-1E8CD381C6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1495" y="617411"/>
            <a:ext cx="5661372" cy="6186964"/>
          </a:xfrm>
        </p:spPr>
      </p:pic>
    </p:spTree>
    <p:extLst>
      <p:ext uri="{BB962C8B-B14F-4D97-AF65-F5344CB8AC3E}">
        <p14:creationId xmlns:p14="http://schemas.microsoft.com/office/powerpoint/2010/main" val="4256856863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D6CF72-4FC1-B743-DFDC-EAC8FFCF3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LIKE </a:t>
            </a:r>
            <a:r>
              <a:rPr lang="ko-KR" altLang="en-US" dirty="0"/>
              <a:t>연산자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00FD047F-6938-28D5-0A9B-0F2F55FE4C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7826" y="774700"/>
            <a:ext cx="5968711" cy="5624513"/>
          </a:xfrm>
        </p:spPr>
      </p:pic>
    </p:spTree>
    <p:extLst>
      <p:ext uri="{BB962C8B-B14F-4D97-AF65-F5344CB8AC3E}">
        <p14:creationId xmlns:p14="http://schemas.microsoft.com/office/powerpoint/2010/main" val="3702190405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7A9DBA-EA49-8D92-E955-6435D87CD0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572" y="2959531"/>
            <a:ext cx="7704856" cy="938937"/>
          </a:xfrm>
        </p:spPr>
        <p:txBody>
          <a:bodyPr/>
          <a:lstStyle/>
          <a:p>
            <a:r>
              <a:rPr lang="ko-KR" altLang="en-US" dirty="0"/>
              <a:t>점검문제</a:t>
            </a:r>
          </a:p>
        </p:txBody>
      </p:sp>
    </p:spTree>
    <p:extLst>
      <p:ext uri="{BB962C8B-B14F-4D97-AF65-F5344CB8AC3E}">
        <p14:creationId xmlns:p14="http://schemas.microsoft.com/office/powerpoint/2010/main" val="1751368947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C88E80-7522-DF82-9449-921588DE9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점검문제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A43DB946-2DBD-5766-5FD8-9DA9C8F7E2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7943" y="818710"/>
            <a:ext cx="6514407" cy="2339150"/>
          </a:xfrm>
        </p:spPr>
      </p:pic>
      <p:pic>
        <p:nvPicPr>
          <p:cNvPr id="8" name="내용 개체 틀 5">
            <a:extLst>
              <a:ext uri="{FF2B5EF4-FFF2-40B4-BE49-F238E27FC236}">
                <a16:creationId xmlns:a16="http://schemas.microsoft.com/office/drawing/2014/main" id="{E24D7086-6BCF-353D-EF57-EB0D836AA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635" y="3549631"/>
            <a:ext cx="6092851" cy="2873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385006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C88E80-7522-DF82-9449-921588DE9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점검문제</a:t>
            </a:r>
          </a:p>
        </p:txBody>
      </p:sp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29E1DD57-9E98-E253-2D84-75C6DDE650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3766" y="908720"/>
            <a:ext cx="6116468" cy="2023078"/>
          </a:xfr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2F07A23-23E5-44AC-2C2A-EAAF16A12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766" y="3834045"/>
            <a:ext cx="6124339" cy="1629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250977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C88E80-7522-DF82-9449-921588DE9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점검문제</a:t>
            </a:r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FD982A92-013C-C6E7-F225-7098FB86DF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1670" y="1611077"/>
            <a:ext cx="6222379" cy="1817923"/>
          </a:xfrm>
        </p:spPr>
      </p:pic>
    </p:spTree>
    <p:extLst>
      <p:ext uri="{BB962C8B-B14F-4D97-AF65-F5344CB8AC3E}">
        <p14:creationId xmlns:p14="http://schemas.microsoft.com/office/powerpoint/2010/main" val="2834063018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541454"/>
      </p:ext>
    </p:extLst>
  </p:cSld>
  <p:clrMapOvr>
    <a:masterClrMapping/>
  </p:clrMapOvr>
</p:sld>
</file>

<file path=ppt/theme/theme1.xml><?xml version="1.0" encoding="utf-8"?>
<a:theme xmlns:a="http://schemas.openxmlformats.org/drawingml/2006/main" name="ch01_JAVA 들여다보기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1443</TotalTime>
  <Words>1291</Words>
  <Application>Microsoft Office PowerPoint</Application>
  <PresentationFormat>화면 슬라이드 쇼(4:3)</PresentationFormat>
  <Paragraphs>205</Paragraphs>
  <Slides>47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47</vt:i4>
      </vt:variant>
    </vt:vector>
  </HeadingPairs>
  <TitlesOfParts>
    <vt:vector size="54" baseType="lpstr">
      <vt:lpstr>HY견고딕</vt:lpstr>
      <vt:lpstr>맑은 고딕</vt:lpstr>
      <vt:lpstr>한컴바탕</vt:lpstr>
      <vt:lpstr>Arial</vt:lpstr>
      <vt:lpstr>Arial Black</vt:lpstr>
      <vt:lpstr>Wingdings</vt:lpstr>
      <vt:lpstr>ch01_JAVA 들여다보기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1. SELECT문</vt:lpstr>
      <vt:lpstr>1. SELECT문</vt:lpstr>
      <vt:lpstr>1. SELECT문</vt:lpstr>
      <vt:lpstr>1. SELECT문</vt:lpstr>
      <vt:lpstr>2. WHERE절</vt:lpstr>
      <vt:lpstr>3. ORDER BY절</vt:lpstr>
      <vt:lpstr>3. ORDER BY절</vt:lpstr>
      <vt:lpstr>4. LIMIT n</vt:lpstr>
      <vt:lpstr>4. LIMIT n</vt:lpstr>
      <vt:lpstr>5. DISTINCT</vt:lpstr>
      <vt:lpstr>5. DISTINCT</vt:lpstr>
      <vt:lpstr>5. DISTINCT</vt:lpstr>
      <vt:lpstr>PowerPoint 프레젠테이션</vt:lpstr>
      <vt:lpstr>1. 산술 연산자</vt:lpstr>
      <vt:lpstr>1. 산술 연산자</vt:lpstr>
      <vt:lpstr>2. 비교 연산자</vt:lpstr>
      <vt:lpstr>2. 비교 연산자</vt:lpstr>
      <vt:lpstr>3. 논리 연산자</vt:lpstr>
      <vt:lpstr>3. 논리 연산자</vt:lpstr>
      <vt:lpstr>4. 집합 연산자</vt:lpstr>
      <vt:lpstr>4. 집합 연산자</vt:lpstr>
      <vt:lpstr>4. 집합 연산자</vt:lpstr>
      <vt:lpstr>4. 집합 연산자</vt:lpstr>
      <vt:lpstr>5. IS NULL 연산자</vt:lpstr>
      <vt:lpstr>5. IS NULL 연산자</vt:lpstr>
      <vt:lpstr>5. IS NULL 연산자</vt:lpstr>
      <vt:lpstr>5. IS NULL 연산자</vt:lpstr>
      <vt:lpstr>6. IN과 BETWEEN...AND 연산자</vt:lpstr>
      <vt:lpstr>6. IN과 BETWEEN...AND 연산자</vt:lpstr>
      <vt:lpstr>6. IN과 BETWEEN...AND 연산자</vt:lpstr>
      <vt:lpstr>7. LIKE 연산자</vt:lpstr>
      <vt:lpstr>7. LIKE 연산자</vt:lpstr>
      <vt:lpstr>7. LIKE 연산자</vt:lpstr>
      <vt:lpstr>7. LIKE 연산자</vt:lpstr>
      <vt:lpstr>7. LIKE 연산자</vt:lpstr>
      <vt:lpstr>7. LIKE 연산자</vt:lpstr>
      <vt:lpstr>PowerPoint 프레젠테이션</vt:lpstr>
      <vt:lpstr>점검문제</vt:lpstr>
      <vt:lpstr>점검문제</vt:lpstr>
      <vt:lpstr>점검문제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1장. 유닉스 개요 및 기본 사용법</dc:title>
  <dc:creator>한빛아카데미(주)</dc:creator>
  <cp:lastModifiedBy>Kim Sungmu</cp:lastModifiedBy>
  <cp:revision>2199</cp:revision>
  <dcterms:created xsi:type="dcterms:W3CDTF">2012-07-23T02:34:37Z</dcterms:created>
  <dcterms:modified xsi:type="dcterms:W3CDTF">2024-03-08T05:51:32Z</dcterms:modified>
  <cp:version>1000.0000.01</cp:version>
</cp:coreProperties>
</file>