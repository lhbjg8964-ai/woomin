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3" r:id="rId1"/>
  </p:sldMasterIdLst>
  <p:notesMasterIdLst>
    <p:notesMasterId r:id="rId55"/>
  </p:notesMasterIdLst>
  <p:handoutMasterIdLst>
    <p:handoutMasterId r:id="rId56"/>
  </p:handoutMasterIdLst>
  <p:sldIdLst>
    <p:sldId id="256" r:id="rId2"/>
    <p:sldId id="257" r:id="rId3"/>
    <p:sldId id="258" r:id="rId4"/>
    <p:sldId id="259" r:id="rId5"/>
    <p:sldId id="1012" r:id="rId6"/>
    <p:sldId id="260" r:id="rId7"/>
    <p:sldId id="1013" r:id="rId8"/>
    <p:sldId id="1014" r:id="rId9"/>
    <p:sldId id="1015" r:id="rId10"/>
    <p:sldId id="326" r:id="rId11"/>
    <p:sldId id="1016" r:id="rId12"/>
    <p:sldId id="1017" r:id="rId13"/>
    <p:sldId id="1018" r:id="rId14"/>
    <p:sldId id="1019" r:id="rId15"/>
    <p:sldId id="1020" r:id="rId16"/>
    <p:sldId id="1021" r:id="rId17"/>
    <p:sldId id="1022" r:id="rId18"/>
    <p:sldId id="1023" r:id="rId19"/>
    <p:sldId id="1024" r:id="rId20"/>
    <p:sldId id="1025" r:id="rId21"/>
    <p:sldId id="1026" r:id="rId22"/>
    <p:sldId id="1027" r:id="rId23"/>
    <p:sldId id="1028" r:id="rId24"/>
    <p:sldId id="1029" r:id="rId25"/>
    <p:sldId id="1030" r:id="rId26"/>
    <p:sldId id="1031" r:id="rId27"/>
    <p:sldId id="1032" r:id="rId28"/>
    <p:sldId id="1033" r:id="rId29"/>
    <p:sldId id="1034" r:id="rId30"/>
    <p:sldId id="1035" r:id="rId31"/>
    <p:sldId id="1036" r:id="rId32"/>
    <p:sldId id="1037" r:id="rId33"/>
    <p:sldId id="1038" r:id="rId34"/>
    <p:sldId id="1039" r:id="rId35"/>
    <p:sldId id="1041" r:id="rId36"/>
    <p:sldId id="1040" r:id="rId37"/>
    <p:sldId id="1043" r:id="rId38"/>
    <p:sldId id="1044" r:id="rId39"/>
    <p:sldId id="1045" r:id="rId40"/>
    <p:sldId id="327" r:id="rId41"/>
    <p:sldId id="1046" r:id="rId42"/>
    <p:sldId id="1047" r:id="rId43"/>
    <p:sldId id="1048" r:id="rId44"/>
    <p:sldId id="1049" r:id="rId45"/>
    <p:sldId id="1050" r:id="rId46"/>
    <p:sldId id="1051" r:id="rId47"/>
    <p:sldId id="1052" r:id="rId48"/>
    <p:sldId id="275" r:id="rId49"/>
    <p:sldId id="325" r:id="rId50"/>
    <p:sldId id="1053" r:id="rId51"/>
    <p:sldId id="1054" r:id="rId52"/>
    <p:sldId id="1055" r:id="rId53"/>
    <p:sldId id="282" r:id="rId5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5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miga" initials="a" lastIdx="9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496"/>
    <a:srgbClr val="0082C6"/>
    <a:srgbClr val="0095DA"/>
    <a:srgbClr val="00C0AE"/>
    <a:srgbClr val="007A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70" autoAdjust="0"/>
    <p:restoredTop sz="96242" autoAdjust="0"/>
  </p:normalViewPr>
  <p:slideViewPr>
    <p:cSldViewPr>
      <p:cViewPr varScale="1">
        <p:scale>
          <a:sx n="104" d="100"/>
          <a:sy n="104" d="100"/>
        </p:scale>
        <p:origin x="2082" y="96"/>
      </p:cViewPr>
      <p:guideLst>
        <p:guide orient="horz" pos="2160"/>
        <p:guide pos="375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-3822" y="-72"/>
      </p:cViewPr>
      <p:guideLst>
        <p:guide orient="horz" pos="2880"/>
        <p:guide pos="216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commentAuthors" Target="commentAuthor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C87C3E9-2372-4D2D-A8FE-578D26F0CAB8}" type="datetime1">
              <a:rPr lang="ko-KR" altLang="en-US"/>
              <a:pPr lvl="0">
                <a:defRPr/>
              </a:pPr>
              <a:t>2024-03-08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8D2126D6-8CEA-47E8-B467-8C3047BBCAC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91952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05BC3899-2E4F-4D3A-8D29-BF4BDDE21DE2}" type="datetime1">
              <a:rPr lang="ko-KR" altLang="en-US"/>
              <a:pPr lvl="0">
                <a:defRPr/>
              </a:pPr>
              <a:t>2024-03-08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89363BF-43B7-4F43-ABD0-D052F59FCD18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35413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89363BF-43B7-4F43-ABD0-D052F59FCD18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075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사용자 지정 레이아웃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0" y="-1216"/>
            <a:ext cx="9144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7" name="모서리가 둥근 직사각형 4"/>
          <p:cNvSpPr/>
          <p:nvPr userDrawn="1"/>
        </p:nvSpPr>
        <p:spPr>
          <a:xfrm>
            <a:off x="319088" y="404813"/>
            <a:ext cx="8497887" cy="6048375"/>
          </a:xfrm>
          <a:prstGeom prst="roundRect">
            <a:avLst>
              <a:gd name="adj" fmla="val 4629"/>
            </a:avLst>
          </a:prstGeom>
          <a:solidFill>
            <a:schemeClr val="lt1"/>
          </a:solidFill>
          <a:ln w="53975">
            <a:solidFill>
              <a:srgbClr val="0095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16CA19A-51D8-9251-A97D-2C6F9EBABB7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72201" y="4766995"/>
            <a:ext cx="2296013" cy="158989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69EAE1A-F232-F70D-A002-581DA434C95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45650" y="2091005"/>
            <a:ext cx="3652699" cy="2337037"/>
          </a:xfrm>
          <a:prstGeom prst="rect">
            <a:avLst/>
          </a:prstGeom>
        </p:spPr>
      </p:pic>
      <p:pic>
        <p:nvPicPr>
          <p:cNvPr id="5" name="Picture 4" descr="C:\Users\김현용\Desktop\제호.jpg">
            <a:extLst>
              <a:ext uri="{FF2B5EF4-FFF2-40B4-BE49-F238E27FC236}">
                <a16:creationId xmlns:a16="http://schemas.microsoft.com/office/drawing/2014/main" id="{D23FF181-807E-1AE6-E2A0-8C86581C76A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6373" y="6118343"/>
            <a:ext cx="1431255" cy="238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사용자 지정 레이아웃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4B2FD9B6-DC5A-4644-B01F-335E6DD2CDD1}" type="datetime1">
              <a:rPr lang="ko-KR" altLang="en-US"/>
              <a:pPr lvl="0">
                <a:defRPr/>
              </a:pPr>
              <a:t>2024-03-08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6BC740F2-65F4-46F1-8462-F5CEAE10BBF6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FBCE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kumimoji="1" lang="ko-KR" altLang="en-US" sz="1800" b="0" i="0" u="none" strike="noStrike" kern="1200" baseline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E7562E"/>
          </a:solidFill>
          <a:ln>
            <a:solidFill>
              <a:schemeClr val="accent2"/>
            </a:solidFill>
          </a:ln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9pPr>
          </a:lstStyle>
          <a:p>
            <a:pPr algn="ctr" eaLnBrk="1" hangingPunct="1">
              <a:spcBef>
                <a:spcPct val="20000"/>
              </a:spcBef>
              <a:defRPr/>
            </a:pPr>
            <a:endParaRPr lang="ko-KR" altLang="en-US" sz="3200">
              <a:solidFill>
                <a:srgbClr val="481C10"/>
              </a:solidFill>
              <a:ea typeface="맑은 고딕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279526" y="4726538"/>
            <a:ext cx="2324100" cy="211455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9" name="Picture 3"/>
          <p:cNvPicPr>
            <a:picLocks noChangeAspect="1" noChangeArrowheads="1"/>
          </p:cNvPicPr>
          <p:nvPr userDrawn="1"/>
        </p:nvPicPr>
        <p:blipFill rotWithShape="1">
          <a:blip r:embed="rId3"/>
          <a:srcRect/>
          <a:stretch>
            <a:fillRect/>
          </a:stretch>
        </p:blipFill>
        <p:spPr>
          <a:xfrm rot="319573">
            <a:off x="680756" y="4293096"/>
            <a:ext cx="506868" cy="51253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사용자 지정 레이아웃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4B2FD9B6-DC5A-4644-B01F-335E6DD2CDD1}" type="datetime1">
              <a:rPr lang="ko-KR" altLang="en-US"/>
              <a:pPr lvl="0">
                <a:defRPr/>
              </a:pPr>
              <a:t>2024-03-08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6BC740F2-65F4-46F1-8462-F5CEAE10BBF6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kumimoji="1" lang="ko-KR" altLang="en-US" sz="1800" b="0" i="0" u="none" strike="noStrike" kern="1200" baseline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0095DA"/>
          </a:solidFill>
          <a:ln>
            <a:noFill/>
          </a:ln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/>
                <a:ea typeface="굴림"/>
              </a:defRPr>
            </a:lvl9pPr>
          </a:lstStyle>
          <a:p>
            <a:pPr algn="ctr" eaLnBrk="1" hangingPunct="1">
              <a:spcBef>
                <a:spcPct val="20000"/>
              </a:spcBef>
              <a:defRPr/>
            </a:pPr>
            <a:endParaRPr lang="ko-KR" altLang="en-US" sz="3200">
              <a:solidFill>
                <a:srgbClr val="481C10"/>
              </a:solidFill>
              <a:ea typeface="맑은 고딕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AD28631-B9BB-AF47-A267-485B38AF74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83991" y="4498177"/>
            <a:ext cx="3122100" cy="2161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968810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사용자 지정 레이아웃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b="0" spc="-150" baseline="0" dirty="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82C6"/>
                </a:solidFill>
                <a:effectLst/>
                <a:latin typeface="HY견고딕"/>
                <a:ea typeface="HY견고딕"/>
                <a:cs typeface="Tahoma"/>
              </a:rPr>
              <a:t>목차</a:t>
            </a:r>
            <a:endParaRPr kumimoji="0" lang="ko-KR" altLang="en-US" sz="4400" b="0" spc="-150" baseline="0" dirty="0">
              <a:solidFill>
                <a:srgbClr val="0082C6"/>
              </a:solidFill>
              <a:latin typeface="HY견고딕"/>
              <a:ea typeface="HY견고딕"/>
              <a:cs typeface="Tahoma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+mj-lt"/>
              <a:buAutoNum type="arabicPeriod"/>
              <a:defRPr sz="2000" b="1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9" name="모서리가 둥근 직사각형 4"/>
          <p:cNvSpPr/>
          <p:nvPr userDrawn="1"/>
        </p:nvSpPr>
        <p:spPr>
          <a:xfrm>
            <a:off x="319088" y="404813"/>
            <a:ext cx="8497887" cy="6048375"/>
          </a:xfrm>
          <a:prstGeom prst="roundRect">
            <a:avLst>
              <a:gd name="adj" fmla="val 4629"/>
            </a:avLst>
          </a:prstGeom>
          <a:noFill/>
          <a:ln w="53975">
            <a:solidFill>
              <a:srgbClr val="0095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_사용자 지정 레이아웃" preserve="1" userDrawn="1">
  <p:cSld name="1_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b="0" kern="1200" spc="-150" baseline="0" dirty="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82C6"/>
                </a:solidFill>
                <a:effectLst/>
                <a:latin typeface="HY견고딕"/>
                <a:ea typeface="HY견고딕"/>
                <a:cs typeface="Tahoma"/>
              </a:rPr>
              <a:t>학습목표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Arial"/>
              <a:buChar char="•"/>
              <a:defRPr sz="2000" b="1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9" name="모서리가 둥근 직사각형 4"/>
          <p:cNvSpPr/>
          <p:nvPr userDrawn="1"/>
        </p:nvSpPr>
        <p:spPr>
          <a:xfrm>
            <a:off x="319088" y="404813"/>
            <a:ext cx="8497887" cy="6048375"/>
          </a:xfrm>
          <a:prstGeom prst="roundRect">
            <a:avLst>
              <a:gd name="adj" fmla="val 4629"/>
            </a:avLst>
          </a:prstGeom>
          <a:noFill/>
          <a:ln w="53975">
            <a:solidFill>
              <a:srgbClr val="0095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solidFill>
            <a:srgbClr val="75BEEA"/>
          </a:solidFill>
          <a:ln w="53975">
            <a:solidFill>
              <a:srgbClr val="F271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sp>
        <p:nvSpPr>
          <p:cNvPr id="2" name="모서리가 둥근 직사각형 1"/>
          <p:cNvSpPr/>
          <p:nvPr userDrawn="1"/>
        </p:nvSpPr>
        <p:spPr>
          <a:xfrm>
            <a:off x="667203" y="586172"/>
            <a:ext cx="1112851" cy="35706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rgbClr val="96CFAC"/>
              </a:solidFill>
            </a:endParaRPr>
          </a:p>
        </p:txBody>
      </p:sp>
      <p:sp>
        <p:nvSpPr>
          <p:cNvPr id="9" name="TextBox 9"/>
          <p:cNvSpPr txBox="1"/>
          <p:nvPr userDrawn="1"/>
        </p:nvSpPr>
        <p:spPr>
          <a:xfrm>
            <a:off x="683568" y="573063"/>
            <a:ext cx="1080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8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27179"/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Preview</a:t>
            </a:r>
            <a:endParaRPr kumimoji="0" lang="ko-KR" altLang="en-US" sz="1800" spc="-1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27179"/>
              </a:solidFill>
              <a:effectLst/>
              <a:latin typeface="HY견고딕" pitchFamily="18" charset="-127"/>
              <a:ea typeface="HY견고딕" pitchFamily="18" charset="-127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687555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사용자 지정 레이아웃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/>
          <p:cNvSpPr>
            <a:spLocks noGrp="1"/>
          </p:cNvSpPr>
          <p:nvPr userDrawn="1"/>
        </p:nvSpPr>
        <p:spPr>
          <a:xfrm>
            <a:off x="719101" y="3412604"/>
            <a:ext cx="7704856" cy="938937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8" name="텍스트 개체 틀 6"/>
          <p:cNvSpPr>
            <a:spLocks noGrp="1"/>
          </p:cNvSpPr>
          <p:nvPr userDrawn="1"/>
        </p:nvSpPr>
        <p:spPr>
          <a:xfrm>
            <a:off x="719101" y="2348880"/>
            <a:ext cx="7704856" cy="938937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9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19572" y="3412604"/>
            <a:ext cx="7704856" cy="938937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4800" b="1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0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719572" y="2348880"/>
            <a:ext cx="7704856" cy="938937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5400" b="1"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1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rgbClr val="0095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rgbClr val="9A5F3A"/>
              </a:solidFill>
            </a:endParaRPr>
          </a:p>
        </p:txBody>
      </p:sp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본문" userDrawn="1">
  <p:cSld name="7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3"/>
          <p:cNvSpPr>
            <a:spLocks noChangeArrowheads="1"/>
          </p:cNvSpPr>
          <p:nvPr/>
        </p:nvSpPr>
        <p:spPr bwMode="gray">
          <a:xfrm>
            <a:off x="8410574" y="6643688"/>
            <a:ext cx="733425" cy="2159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bg1">
                  <a:lumMod val="75000"/>
                  <a:tint val="23500"/>
                  <a:satMod val="160000"/>
                  <a:alpha val="0"/>
                </a:schemeClr>
              </a:gs>
            </a:gsLst>
            <a:lin ang="10800000" scaled="1"/>
            <a:tileRect/>
          </a:gradFill>
          <a:ln w="9525">
            <a:noFill/>
            <a:miter/>
          </a:ln>
        </p:spPr>
        <p:txBody>
          <a:bodyPr wrap="none" anchor="ctr"/>
          <a:lstStyle/>
          <a:p>
            <a:pPr latinLnBrk="0">
              <a:defRPr/>
            </a:pPr>
            <a:endParaRPr kumimoji="0" lang="ko-KR" altLang="en-US" sz="3000">
              <a:solidFill>
                <a:srgbClr val="005E5C"/>
              </a:solidFill>
              <a:latin typeface="맑은 고딕"/>
              <a:ea typeface="맑은 고딕"/>
              <a:cs typeface="+mj-cs"/>
            </a:endParaRPr>
          </a:p>
        </p:txBody>
      </p:sp>
      <p:sp>
        <p:nvSpPr>
          <p:cNvPr id="9" name="Rectangle 18"/>
          <p:cNvSpPr>
            <a:spLocks noChangeArrowheads="1"/>
          </p:cNvSpPr>
          <p:nvPr/>
        </p:nvSpPr>
        <p:spPr>
          <a:xfrm>
            <a:off x="8279259" y="6605588"/>
            <a:ext cx="842962" cy="214312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/>
          <a:p>
            <a:pPr algn="r">
              <a:defRPr/>
            </a:pPr>
            <a:fld id="{048473F8-2F3F-4CC2-BF55-F7E080802650}" type="slidenum">
              <a:rPr lang="ko-KR" altLang="en-US" sz="120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/>
                <a:ea typeface="맑은 고딕"/>
                <a:cs typeface="+mj-cs"/>
              </a:rPr>
              <a:pPr algn="r">
                <a:defRPr/>
              </a:pPr>
              <a:t>‹#›</a:t>
            </a:fld>
            <a:r>
              <a:rPr lang="ko-KR" altLang="en-US" sz="12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/>
                <a:ea typeface="맑은 고딕"/>
                <a:cs typeface="+mj-cs"/>
              </a:rPr>
              <a:t> </a:t>
            </a:r>
            <a:r>
              <a:rPr lang="en-US" altLang="ko-KR" sz="12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/>
                <a:ea typeface="맑은 고딕"/>
                <a:cs typeface="+mj-cs"/>
              </a:rPr>
              <a:t>/ 53</a:t>
            </a:r>
          </a:p>
        </p:txBody>
      </p:sp>
      <p:sp>
        <p:nvSpPr>
          <p:cNvPr id="17" name="제목 9"/>
          <p:cNvSpPr>
            <a:spLocks noGrp="1"/>
          </p:cNvSpPr>
          <p:nvPr>
            <p:ph type="title"/>
          </p:nvPr>
        </p:nvSpPr>
        <p:spPr>
          <a:xfrm>
            <a:off x="288526" y="35744"/>
            <a:ext cx="7785100" cy="474662"/>
          </a:xfrm>
        </p:spPr>
        <p:txBody>
          <a:bodyPr>
            <a:noAutofit/>
          </a:bodyPr>
          <a:lstStyle>
            <a:lvl1pPr algn="l">
              <a:defRPr sz="2000" b="1" spc="-100" baseline="0">
                <a:solidFill>
                  <a:srgbClr val="0082C6"/>
                </a:solidFill>
                <a:effectLst>
                  <a:glow>
                    <a:schemeClr val="tx1"/>
                  </a:glow>
                </a:effectLst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7" name="Rectangle 440"/>
          <p:cNvSpPr>
            <a:spLocks noChangeArrowheads="1"/>
          </p:cNvSpPr>
          <p:nvPr userDrawn="1"/>
        </p:nvSpPr>
        <p:spPr bwMode="invGray">
          <a:xfrm flipV="1">
            <a:off x="0" y="533399"/>
            <a:ext cx="9144000" cy="45719"/>
          </a:xfrm>
          <a:prstGeom prst="rect">
            <a:avLst/>
          </a:prstGeom>
          <a:solidFill>
            <a:srgbClr val="0095DA"/>
          </a:solidFill>
          <a:ln w="22225" algn="ctr">
            <a:noFill/>
            <a:miter/>
          </a:ln>
          <a:effectLst/>
        </p:spPr>
        <p:txBody>
          <a:bodyPr wrap="none" anchor="ctr"/>
          <a:lstStyle/>
          <a:p>
            <a:pPr lvl="0" algn="ctr">
              <a:spcBef>
                <a:spcPct val="20000"/>
              </a:spcBef>
              <a:defRPr/>
            </a:pPr>
            <a:endParaRPr lang="ko-KR" altLang="en-US" sz="3200">
              <a:solidFill>
                <a:srgbClr val="481C10"/>
              </a:solidFill>
              <a:latin typeface="맑은 고딕"/>
              <a:ea typeface="맑은 고딕"/>
              <a:cs typeface="+mj-cs"/>
            </a:endParaRPr>
          </a:p>
        </p:txBody>
      </p:sp>
      <p:sp>
        <p:nvSpPr>
          <p:cNvPr id="10" name="텍스트 개체 틀 2"/>
          <p:cNvSpPr>
            <a:spLocks noGrp="1"/>
          </p:cNvSpPr>
          <p:nvPr>
            <p:ph idx="1" hasCustomPrompt="1"/>
          </p:nvPr>
        </p:nvSpPr>
        <p:spPr>
          <a:xfrm>
            <a:off x="611561" y="774420"/>
            <a:ext cx="8280919" cy="562491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57040" indent="-25704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82C6"/>
              </a:buClr>
              <a:buSzPct val="100000"/>
              <a:buFont typeface="한컴바탕"/>
              <a:buChar char="■"/>
              <a:defRPr sz="1800">
                <a:solidFill>
                  <a:srgbClr val="000000"/>
                </a:solidFill>
              </a:defRPr>
            </a:lvl1pPr>
            <a:lvl2pPr marL="685680" indent="-228480">
              <a:lnSpc>
                <a:spcPct val="150000"/>
              </a:lnSpc>
              <a:buFont typeface="Arial" panose="020B0604020202020204" pitchFamily="34" charset="0"/>
              <a:buChar char="•"/>
              <a:defRPr sz="1600">
                <a:solidFill>
                  <a:srgbClr val="000000"/>
                </a:solidFill>
              </a:defRPr>
            </a:lvl2pPr>
            <a:lvl3pPr marL="1200150" indent="-285750">
              <a:lnSpc>
                <a:spcPct val="150000"/>
              </a:lnSpc>
              <a:buFont typeface="Wingdings" panose="05000000000000000000" pitchFamily="2" charset="2"/>
              <a:buChar char="ü"/>
              <a:defRPr sz="1400">
                <a:solidFill>
                  <a:srgbClr val="000000"/>
                </a:solidFill>
              </a:defRPr>
            </a:lvl3pPr>
          </a:lstStyle>
          <a:p>
            <a:pPr lvl="0">
              <a:defRPr/>
            </a:pPr>
            <a:r>
              <a:rPr lang="ko-KR" altLang="en-US" dirty="0"/>
              <a:t> 마스터 텍스트 스타일을 편집합니다</a:t>
            </a:r>
          </a:p>
          <a:p>
            <a:pPr lvl="1">
              <a:defRPr/>
            </a:pPr>
            <a:r>
              <a:rPr lang="ko-KR" altLang="en-US" dirty="0"/>
              <a:t> 둘째 수준</a:t>
            </a:r>
          </a:p>
          <a:p>
            <a:pPr lvl="2">
              <a:defRPr/>
            </a:pPr>
            <a:r>
              <a:rPr lang="ko-KR" altLang="en-US" dirty="0"/>
              <a:t>셋째 수준</a:t>
            </a:r>
          </a:p>
        </p:txBody>
      </p:sp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684076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124744" y="908051"/>
            <a:ext cx="2339752" cy="0"/>
          </a:xfrm>
          <a:prstGeom prst="line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4464496" y="908051"/>
            <a:ext cx="2339752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6804248" y="908051"/>
            <a:ext cx="2339752" cy="0"/>
          </a:xfrm>
          <a:prstGeom prst="line">
            <a:avLst/>
          </a:prstGeom>
          <a:ln w="762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0" y="908051"/>
            <a:ext cx="2339752" cy="0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00A496"/>
              </a:buClr>
              <a:buFont typeface="Wingdings" pitchFamily="2" charset="2"/>
              <a:buChar char="n"/>
              <a:defRPr sz="18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6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400"/>
            </a:lvl3pPr>
            <a:lvl4pPr marL="809625" indent="-180975">
              <a:spcAft>
                <a:spcPts val="300"/>
              </a:spcAft>
              <a:buSzPct val="96000"/>
              <a:defRPr sz="1200"/>
            </a:lvl4pPr>
            <a:lvl5pPr marL="990600" indent="-180975"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12327502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본문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440"/>
          <p:cNvSpPr>
            <a:spLocks noChangeArrowheads="1"/>
          </p:cNvSpPr>
          <p:nvPr/>
        </p:nvSpPr>
        <p:spPr bwMode="invGray">
          <a:xfrm>
            <a:off x="0" y="548506"/>
            <a:ext cx="9162510" cy="4571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22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lvl="0" algn="ctr">
              <a:spcBef>
                <a:spcPct val="20000"/>
              </a:spcBef>
            </a:pPr>
            <a:endParaRPr lang="ko-KR" altLang="en-US" sz="3200" dirty="0">
              <a:solidFill>
                <a:srgbClr val="481C1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Rectangle 43"/>
          <p:cNvSpPr>
            <a:spLocks noChangeArrowheads="1"/>
          </p:cNvSpPr>
          <p:nvPr/>
        </p:nvSpPr>
        <p:spPr bwMode="gray">
          <a:xfrm>
            <a:off x="8410574" y="6643688"/>
            <a:ext cx="733425" cy="2159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bg1">
                  <a:lumMod val="75000"/>
                  <a:tint val="23500"/>
                  <a:satMod val="160000"/>
                  <a:alpha val="0"/>
                </a:schemeClr>
              </a:gs>
            </a:gsLst>
            <a:lin ang="1080000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latinLnBrk="0">
              <a:defRPr/>
            </a:pPr>
            <a:endParaRPr kumimoji="0" lang="ko-KR" altLang="en-US" sz="3000" dirty="0">
              <a:solidFill>
                <a:srgbClr val="005E5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Rectangle 18"/>
          <p:cNvSpPr>
            <a:spLocks noChangeArrowheads="1"/>
          </p:cNvSpPr>
          <p:nvPr/>
        </p:nvSpPr>
        <p:spPr bwMode="auto">
          <a:xfrm>
            <a:off x="8279259" y="6605588"/>
            <a:ext cx="842962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048473F8-2F3F-4CC2-BF55-F7E080802650}" type="slidenum">
              <a:rPr lang="ko-KR" altLang="en-US" sz="1200" smtClean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r">
                <a:defRPr/>
              </a:pPr>
              <a:t>‹#›</a:t>
            </a:fld>
            <a:r>
              <a:rPr lang="ko-KR" altLang="en-US" sz="12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/ 57</a:t>
            </a:r>
          </a:p>
        </p:txBody>
      </p:sp>
      <p:sp>
        <p:nvSpPr>
          <p:cNvPr id="17" name="제목 9"/>
          <p:cNvSpPr>
            <a:spLocks noGrp="1"/>
          </p:cNvSpPr>
          <p:nvPr>
            <p:ph type="title"/>
          </p:nvPr>
        </p:nvSpPr>
        <p:spPr>
          <a:xfrm>
            <a:off x="288525" y="35744"/>
            <a:ext cx="7785100" cy="474662"/>
          </a:xfrm>
        </p:spPr>
        <p:txBody>
          <a:bodyPr>
            <a:noAutofit/>
          </a:bodyPr>
          <a:lstStyle>
            <a:lvl1pPr algn="l">
              <a:defRPr sz="2600" b="1" spc="-100" baseline="0">
                <a:solidFill>
                  <a:srgbClr val="C00000"/>
                </a:soli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>
          <a:xfrm>
            <a:off x="288526" y="773705"/>
            <a:ext cx="8603954" cy="5669958"/>
          </a:xfrm>
        </p:spPr>
        <p:txBody>
          <a:bodyPr>
            <a:normAutofit/>
          </a:bodyPr>
          <a:lstStyle>
            <a:lvl1pPr marL="93662" indent="0">
              <a:lnSpc>
                <a:spcPct val="150000"/>
              </a:lnSpc>
              <a:buClr>
                <a:schemeClr val="accent5">
                  <a:lumMod val="50000"/>
                </a:schemeClr>
              </a:buClr>
              <a:buSzPct val="70000"/>
              <a:buFont typeface="맑은 고딕" panose="020B0503020000020004" pitchFamily="50" charset="-127"/>
              <a:buNone/>
              <a:defRPr sz="2000" b="1"/>
            </a:lvl1pPr>
            <a:lvl2pPr marL="457200" marR="0" indent="0" algn="l" defTabSz="914400" rtl="0" eaLnBrk="1" fontAlgn="auto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Tx/>
              <a:buFont typeface="Wingdings" panose="05000000000000000000" pitchFamily="2" charset="2"/>
              <a:buNone/>
              <a:tabLst/>
              <a:defRPr sz="1600"/>
            </a:lvl2pPr>
            <a:lvl3pPr marL="804863" indent="-1778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/>
            </a:lvl3pPr>
            <a:lvl4pPr marL="982663" indent="-1778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/>
            </a:lvl4pPr>
            <a:lvl5pPr marL="982662" indent="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ko-KR" altLang="en-US" dirty="0"/>
              <a:t>마스터 텍스트 스타일을</a:t>
            </a:r>
          </a:p>
          <a:p>
            <a:pPr lvl="1"/>
            <a:r>
              <a:rPr lang="ko-KR" altLang="en-US" dirty="0"/>
              <a:t>둘째 수준</a:t>
            </a:r>
            <a:endParaRPr lang="en-US" altLang="ko-KR" dirty="0"/>
          </a:p>
          <a:p>
            <a:pPr marL="627063" marR="0" lvl="1" indent="-169863" algn="l" defTabSz="914400" rtl="0" eaLnBrk="1" fontAlgn="auto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  <a:p>
            <a:pPr lvl="4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253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사용자 지정 레이아웃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C:\Users\김현용\Desktop\제호.jpg"/>
          <p:cNvPicPr>
            <a:picLocks noChangeAspect="1" noChangeArrowheads="1"/>
          </p:cNvPicPr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7160661" y="5645666"/>
            <a:ext cx="1731819" cy="288636"/>
          </a:xfrm>
          <a:prstGeom prst="rect">
            <a:avLst/>
          </a:prstGeom>
          <a:noFill/>
        </p:spPr>
      </p:pic>
      <p:sp>
        <p:nvSpPr>
          <p:cNvPr id="11" name="TextBox 1"/>
          <p:cNvSpPr txBox="1">
            <a:spLocks noChangeArrowheads="1"/>
          </p:cNvSpPr>
          <p:nvPr userDrawn="1"/>
        </p:nvSpPr>
        <p:spPr>
          <a:xfrm>
            <a:off x="1476375" y="2565400"/>
            <a:ext cx="5975945" cy="13234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ko-KR" sz="8000" b="1" dirty="0">
                <a:solidFill>
                  <a:srgbClr val="00A496"/>
                </a:solidFill>
                <a:latin typeface="Arial Black"/>
                <a:ea typeface="+mn-ea"/>
              </a:rPr>
              <a:t>Thank</a:t>
            </a:r>
            <a:r>
              <a:rPr lang="en-US" altLang="ko-KR" sz="8000" b="1" baseline="0" dirty="0">
                <a:solidFill>
                  <a:srgbClr val="00A496"/>
                </a:solidFill>
                <a:latin typeface="Arial Black"/>
                <a:ea typeface="+mn-ea"/>
              </a:rPr>
              <a:t> you!</a:t>
            </a:r>
            <a:endParaRPr lang="ko-KR" altLang="en-US" sz="8000" b="1" dirty="0">
              <a:solidFill>
                <a:srgbClr val="00A496"/>
              </a:solidFill>
              <a:latin typeface="Arial Black"/>
              <a:ea typeface="+mn-ea"/>
            </a:endParaRPr>
          </a:p>
        </p:txBody>
      </p:sp>
      <p:sp>
        <p:nvSpPr>
          <p:cNvPr id="12" name="직사각형 6"/>
          <p:cNvSpPr/>
          <p:nvPr userDrawn="1"/>
        </p:nvSpPr>
        <p:spPr>
          <a:xfrm>
            <a:off x="-1" y="6165304"/>
            <a:ext cx="9144001" cy="692696"/>
          </a:xfrm>
          <a:prstGeom prst="rect">
            <a:avLst/>
          </a:prstGeom>
          <a:solidFill>
            <a:srgbClr val="0095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13" name="직사각형 10"/>
          <p:cNvSpPr/>
          <p:nvPr userDrawn="1"/>
        </p:nvSpPr>
        <p:spPr>
          <a:xfrm>
            <a:off x="0" y="6092750"/>
            <a:ext cx="9144000" cy="7255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14" name="TextBox 6"/>
          <p:cNvSpPr txBox="1">
            <a:spLocks noChangeArrowheads="1"/>
          </p:cNvSpPr>
          <p:nvPr userDrawn="1"/>
        </p:nvSpPr>
        <p:spPr>
          <a:xfrm>
            <a:off x="3147060" y="6309320"/>
            <a:ext cx="2687954" cy="430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ko-KR" sz="1100" b="0" dirty="0">
                <a:solidFill>
                  <a:schemeClr val="tx1"/>
                </a:solidFill>
                <a:latin typeface="+mn-ea"/>
                <a:ea typeface="+mn-ea"/>
                <a:cs typeface="Times New Roman"/>
              </a:rPr>
              <a:t>Copyright© 2024 </a:t>
            </a:r>
            <a:r>
              <a:rPr lang="en-US" altLang="ko-KR" sz="1100" b="0" dirty="0" err="1">
                <a:solidFill>
                  <a:schemeClr val="tx1"/>
                </a:solidFill>
                <a:latin typeface="+mn-ea"/>
                <a:ea typeface="+mn-ea"/>
                <a:cs typeface="Times New Roman"/>
              </a:rPr>
              <a:t>Hanbit</a:t>
            </a:r>
            <a:r>
              <a:rPr lang="en-US" altLang="ko-KR" sz="1100" b="0" dirty="0">
                <a:solidFill>
                  <a:schemeClr val="tx1"/>
                </a:solidFill>
                <a:latin typeface="+mn-ea"/>
                <a:ea typeface="+mn-ea"/>
                <a:cs typeface="Times New Roman"/>
              </a:rPr>
              <a:t> Academy, Inc.</a:t>
            </a:r>
          </a:p>
          <a:p>
            <a:pPr algn="ctr" eaLnBrk="1" hangingPunct="1">
              <a:defRPr/>
            </a:pPr>
            <a:r>
              <a:rPr lang="en-US" altLang="ko-KR" sz="1100" b="0" dirty="0">
                <a:solidFill>
                  <a:schemeClr val="tx1"/>
                </a:solidFill>
                <a:latin typeface="+mn-ea"/>
                <a:ea typeface="+mn-ea"/>
                <a:cs typeface="Times New Roman"/>
              </a:rPr>
              <a:t>All rights reserved.</a:t>
            </a:r>
            <a:endParaRPr lang="ko-KR" altLang="ko-KR" sz="1100" b="0" dirty="0">
              <a:solidFill>
                <a:schemeClr val="tx1"/>
              </a:solidFill>
              <a:latin typeface="+mn-ea"/>
              <a:ea typeface="+mn-ea"/>
              <a:cs typeface="Times New Roman"/>
            </a:endParaRP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228600" y="931818"/>
            <a:ext cx="8686800" cy="5715000"/>
          </a:xfrm>
        </p:spPr>
        <p:txBody>
          <a:bodyPr/>
          <a:lstStyle>
            <a:lvl1pPr marL="342900" marR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ts val="100"/>
              </a:spcAft>
              <a:buClr>
                <a:srgbClr val="5A8DDC"/>
              </a:buClr>
              <a:buSzTx/>
              <a:buFont typeface="Wingdings" pitchFamily="2" charset="2"/>
              <a:buChar char="v"/>
              <a:tabLst/>
              <a:defRPr sz="2200"/>
            </a:lvl1pPr>
            <a:lvl2pPr marL="539750" marR="0" indent="-182563" algn="l" defTabSz="914400" rtl="0" eaLnBrk="0" fontAlgn="base" latinLnBrk="1" hangingPunct="0">
              <a:lnSpc>
                <a:spcPct val="110000"/>
              </a:lnSpc>
              <a:spcBef>
                <a:spcPct val="20000"/>
              </a:spcBef>
              <a:spcAft>
                <a:spcPts val="100"/>
              </a:spcAft>
              <a:buClr>
                <a:srgbClr val="B1AE6B"/>
              </a:buClr>
              <a:buSzTx/>
              <a:buFont typeface="Wingdings" pitchFamily="2" charset="2"/>
              <a:buChar char="§"/>
              <a:tabLst/>
              <a:defRPr sz="1800"/>
            </a:lvl2pPr>
            <a:lvl3pPr marL="720725" marR="0" indent="-185738" algn="l" defTabSz="914400" rtl="0" eaLnBrk="0" fontAlgn="base" latinLnBrk="1" hangingPunct="0">
              <a:lnSpc>
                <a:spcPct val="110000"/>
              </a:lnSpc>
              <a:spcBef>
                <a:spcPct val="20000"/>
              </a:spcBef>
              <a:spcAft>
                <a:spcPts val="100"/>
              </a:spcAft>
              <a:buClr>
                <a:srgbClr val="ADB9AD"/>
              </a:buClr>
              <a:buSzTx/>
              <a:buFontTx/>
              <a:buChar char="•"/>
              <a:tabLst/>
              <a:defRPr sz="1600"/>
            </a:lvl3pPr>
            <a:lvl4pPr marL="898525" indent="-177800">
              <a:buClr>
                <a:schemeClr val="bg1">
                  <a:lumMod val="50000"/>
                </a:schemeClr>
              </a:buClr>
              <a:buSzPct val="90000"/>
              <a:buFont typeface="Arial" panose="020B0604020202020204" pitchFamily="34" charset="0"/>
              <a:buChar char="−"/>
              <a:tabLst>
                <a:tab pos="898525" algn="l"/>
              </a:tabLst>
              <a:defRPr sz="1400" b="0">
                <a:latin typeface="맑은 고딕" pitchFamily="50" charset="-127"/>
                <a:ea typeface="맑은 고딕" pitchFamily="50" charset="-127"/>
              </a:defRPr>
            </a:lvl4pPr>
            <a:lvl5pPr>
              <a:defRPr sz="1200"/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66393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 name="ch01_JAVA 들여다보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4B2FD9B6-DC5A-4644-B01F-335E6DD2CDD1}" type="datetime1">
              <a:rPr lang="ko-KR" altLang="en-US"/>
              <a:pPr lvl="0">
                <a:defRPr/>
              </a:pPr>
              <a:t>2024-03-08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6BC740F2-65F4-46F1-8462-F5CEAE10BBF6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84" r:id="rId3"/>
    <p:sldLayoutId id="2147483737" r:id="rId4"/>
    <p:sldLayoutId id="2147483738" r:id="rId5"/>
    <p:sldLayoutId id="2147483787" r:id="rId6"/>
    <p:sldLayoutId id="2147483739" r:id="rId7"/>
    <p:sldLayoutId id="2147483740" r:id="rId8"/>
    <p:sldLayoutId id="2147483785" r:id="rId9"/>
    <p:sldLayoutId id="2147483741" r:id="rId10"/>
    <p:sldLayoutId id="2147483742" r:id="rId11"/>
    <p:sldLayoutId id="2147483786" r:id="rId12"/>
  </p:sldLayoutIdLst>
  <p:transition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맑은 고딕"/>
          <a:ea typeface="맑은 고딕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맑은 고딕"/>
          <a:ea typeface="맑은 고딕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맑은 고딕"/>
          <a:ea typeface="맑은 고딕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맑은 고딕"/>
          <a:ea typeface="맑은 고딕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맑은 고딕"/>
          <a:ea typeface="맑은 고딕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맑은 고딕"/>
          <a:ea typeface="맑은 고딕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2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1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456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AE37D05-C5F3-E59C-B391-B391259DE0C2}"/>
              </a:ext>
            </a:extLst>
          </p:cNvPr>
          <p:cNvSpPr/>
          <p:nvPr/>
        </p:nvSpPr>
        <p:spPr bwMode="auto">
          <a:xfrm>
            <a:off x="5833387" y="836712"/>
            <a:ext cx="2977097" cy="2246769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marR="0" indent="0" algn="r" defTabSz="914400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000" b="1" dirty="0">
                <a:latin typeface="+mj-ea"/>
                <a:ea typeface="+mj-ea"/>
              </a:rPr>
              <a:t>Chapter 03</a:t>
            </a:r>
            <a:endParaRPr lang="en-US" altLang="ko-KR" sz="4000" b="1" baseline="0" dirty="0">
              <a:latin typeface="+mj-ea"/>
              <a:ea typeface="+mj-ea"/>
            </a:endParaRPr>
          </a:p>
          <a:p>
            <a:pPr algn="r" eaLnBrk="1" latinLnBrk="1" hangingPunct="1">
              <a:defRPr/>
            </a:pPr>
            <a:r>
              <a:rPr kumimoji="1" lang="ko-KR" altLang="en-US" sz="4000" b="1" spc="-150" dirty="0">
                <a:latin typeface="+mj-ea"/>
                <a:ea typeface="+mj-ea"/>
              </a:rPr>
              <a:t>함수</a:t>
            </a:r>
            <a:r>
              <a:rPr kumimoji="1" lang="en-US" altLang="ko-KR" sz="4000" b="1" spc="-150" dirty="0">
                <a:latin typeface="+mj-ea"/>
                <a:ea typeface="+mj-ea"/>
              </a:rPr>
              <a:t>1:</a:t>
            </a:r>
          </a:p>
          <a:p>
            <a:pPr algn="r" eaLnBrk="1" latinLnBrk="1" hangingPunct="1">
              <a:defRPr/>
            </a:pPr>
            <a:r>
              <a:rPr kumimoji="1" lang="ko-KR" altLang="en-US" sz="4000" b="1" spc="-150" dirty="0">
                <a:latin typeface="+mj-ea"/>
                <a:ea typeface="+mj-ea"/>
              </a:rPr>
              <a:t>단일 행 함수</a:t>
            </a:r>
            <a:endParaRPr kumimoji="1" lang="en-US" altLang="ko-KR" sz="4000" b="1" kern="1200" spc="-15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87468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en-US" altLang="ko-KR" sz="2400" b="1" spc="-150" dirty="0">
                <a:latin typeface="맑은 고딕"/>
              </a:rPr>
              <a:t>SQL </a:t>
            </a:r>
            <a:r>
              <a:rPr lang="ko-KR" altLang="en-US" sz="2400" b="1" spc="-150" dirty="0">
                <a:latin typeface="맑은 고딕"/>
              </a:rPr>
              <a:t>함수의 개요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ko-KR" altLang="en-US" sz="2400" b="1" spc="-150" dirty="0">
                <a:latin typeface="맑은 고딕"/>
              </a:rPr>
              <a:t>단일 행 함수의 종류와 사용법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ko-KR" altLang="en-US" sz="2400" b="1" spc="-150" dirty="0">
                <a:latin typeface="맑은 고딕"/>
              </a:rPr>
              <a:t>기타 단일 행 함수</a:t>
            </a:r>
            <a:endParaRPr lang="ko-KR" altLang="ko-KR" sz="2400" b="1" spc="-150" dirty="0"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5" y="1851323"/>
            <a:ext cx="8001889" cy="410445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함수의 개념과 종류를 이해할 수 있습니다</a:t>
            </a:r>
            <a:r>
              <a:rPr lang="en-US" altLang="ko-KR" dirty="0"/>
              <a:t>.</a:t>
            </a:r>
          </a:p>
          <a:p>
            <a:pPr>
              <a:defRPr/>
            </a:pPr>
            <a:r>
              <a:rPr lang="ko-KR" altLang="en-US" dirty="0"/>
              <a:t>단일 행 함수인 문자형 함수</a:t>
            </a:r>
            <a:r>
              <a:rPr lang="en-US" altLang="ko-KR" dirty="0"/>
              <a:t>, </a:t>
            </a:r>
            <a:r>
              <a:rPr lang="ko-KR" altLang="en-US" dirty="0"/>
              <a:t>숫자형 함수</a:t>
            </a:r>
            <a:r>
              <a:rPr lang="en-US" altLang="ko-KR" dirty="0"/>
              <a:t>, </a:t>
            </a:r>
            <a:r>
              <a:rPr lang="ko-KR" altLang="en-US" dirty="0"/>
              <a:t>날짜</a:t>
            </a:r>
            <a:r>
              <a:rPr lang="en-US" altLang="ko-KR" dirty="0"/>
              <a:t>/</a:t>
            </a:r>
            <a:r>
              <a:rPr lang="ko-KR" altLang="en-US" dirty="0"/>
              <a:t>시간형 함수를 활용할 수 있습니다</a:t>
            </a:r>
            <a:r>
              <a:rPr lang="en-US" altLang="ko-KR" dirty="0"/>
              <a:t>.</a:t>
            </a:r>
          </a:p>
          <a:p>
            <a:pPr>
              <a:defRPr/>
            </a:pPr>
            <a:r>
              <a:rPr lang="ko-KR" altLang="en-US" dirty="0"/>
              <a:t>기타 유용한 함수에 대해 이해할 수 있습니다</a:t>
            </a:r>
            <a:r>
              <a:rPr lang="en-US" altLang="ko-KR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53F1A76-1C43-5A21-8C35-0036FE65B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800" y="1119475"/>
            <a:ext cx="5588399" cy="461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61434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SQL </a:t>
            </a:r>
            <a:r>
              <a:rPr lang="ko-KR" altLang="en-US" dirty="0"/>
              <a:t>함수의 개요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u="sng"/>
              <a:t>Section 01</a:t>
            </a:r>
            <a:endParaRPr lang="ko-KR" altLang="en-US" u="sng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851988-4819-1D8F-C40F-73964A401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함수의 개념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BC7094-61CF-02E6-8A99-72EFD1EE6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함수</a:t>
            </a:r>
            <a:endParaRPr lang="en-US" altLang="ko-KR" dirty="0"/>
          </a:p>
          <a:p>
            <a:pPr lvl="1"/>
            <a:r>
              <a:rPr lang="ko-KR" altLang="en-US" dirty="0"/>
              <a:t>특별한 목적의 작업을 수행하기 위해 독립적으로 설계된 프로그램 코드의 집합</a:t>
            </a:r>
          </a:p>
          <a:p>
            <a:pPr lvl="1"/>
            <a:r>
              <a:rPr lang="ko-KR" altLang="en-US" dirty="0"/>
              <a:t>사용자는 어떤 로직에 의해서 함수가 동작하는지에 대해 알 필요 없이 필요한 값을 주고</a:t>
            </a:r>
            <a:r>
              <a:rPr lang="en-US" altLang="ko-KR" dirty="0"/>
              <a:t>, </a:t>
            </a:r>
            <a:r>
              <a:rPr lang="ko-KR" altLang="en-US" dirty="0"/>
              <a:t>원하는 값을 얻으면 됨</a:t>
            </a:r>
            <a:endParaRPr lang="en-US" altLang="ko-KR" dirty="0"/>
          </a:p>
          <a:p>
            <a:pPr lvl="1"/>
            <a:r>
              <a:rPr lang="ko-KR" altLang="en-US" dirty="0"/>
              <a:t>함수를 실행할 때 필요한 값은 매개변수를 통해 전달됨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[</a:t>
            </a:r>
            <a:r>
              <a:rPr lang="ko-KR" altLang="en-US" dirty="0"/>
              <a:t>예</a:t>
            </a:r>
            <a:r>
              <a:rPr lang="en-US" altLang="ko-KR" dirty="0"/>
              <a:t>]</a:t>
            </a:r>
            <a:r>
              <a:rPr lang="ko-KR" altLang="en-US" dirty="0"/>
              <a:t> 문자열의 길이를 반환하는 </a:t>
            </a:r>
            <a:r>
              <a:rPr lang="en-US" altLang="ko-KR" dirty="0"/>
              <a:t>LENGTH</a:t>
            </a:r>
            <a:r>
              <a:rPr lang="ko-KR" altLang="en-US" dirty="0"/>
              <a:t> 함수</a:t>
            </a:r>
            <a:endParaRPr lang="en-US" altLang="ko-KR" dirty="0"/>
          </a:p>
          <a:p>
            <a:pPr lvl="2"/>
            <a:r>
              <a:rPr lang="ko-KR" altLang="en-US" sz="1600" dirty="0"/>
              <a:t>함수 사용에 필요한 매개변수 값으로 문자열을 입력함</a:t>
            </a:r>
          </a:p>
        </p:txBody>
      </p:sp>
      <p:pic>
        <p:nvPicPr>
          <p:cNvPr id="5" name="그림 4" descr="텍스트, 폰트, 도표, 스크린샷이(가) 표시된 사진&#10;&#10;자동 생성된 설명">
            <a:extLst>
              <a:ext uri="{FF2B5EF4-FFF2-40B4-BE49-F238E27FC236}">
                <a16:creationId xmlns:a16="http://schemas.microsoft.com/office/drawing/2014/main" id="{C2E60595-5CD4-59A7-F087-A4BCB9FFD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5626" y="3879050"/>
            <a:ext cx="4132748" cy="232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7871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1C006F-58B0-EB94-9CE1-3563E4A67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SQL </a:t>
            </a:r>
            <a:r>
              <a:rPr lang="ko-KR" altLang="en-US" dirty="0"/>
              <a:t>함수의 개념과 종류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7E950D5-00E3-B04A-7275-106DFD9E30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660" y="2727394"/>
            <a:ext cx="5920190" cy="3935950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FB69B3-6A57-D08B-9305-7927587E1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SQL </a:t>
            </a:r>
            <a:r>
              <a:rPr lang="ko-KR" altLang="en-US" dirty="0"/>
              <a:t>함수</a:t>
            </a:r>
            <a:endParaRPr lang="en-US" altLang="ko-KR" dirty="0"/>
          </a:p>
          <a:p>
            <a:pPr lvl="1"/>
            <a:r>
              <a:rPr lang="ko-KR" altLang="en-US" dirty="0"/>
              <a:t>데이터를 조회하거나 집계</a:t>
            </a:r>
            <a:r>
              <a:rPr lang="en-US" altLang="ko-KR" dirty="0"/>
              <a:t>, </a:t>
            </a:r>
            <a:r>
              <a:rPr lang="ko-KR" altLang="en-US" dirty="0"/>
              <a:t>저장</a:t>
            </a:r>
            <a:r>
              <a:rPr lang="en-US" altLang="ko-KR" dirty="0"/>
              <a:t>, </a:t>
            </a:r>
            <a:r>
              <a:rPr lang="ko-KR" altLang="en-US" dirty="0"/>
              <a:t>수정하는 과정에서 값을 가공하기 위해 제공되는 </a:t>
            </a:r>
            <a:r>
              <a:rPr lang="ko-KR" altLang="en-US" dirty="0" err="1"/>
              <a:t>모듈화된</a:t>
            </a:r>
            <a:r>
              <a:rPr lang="ko-KR" altLang="en-US" dirty="0"/>
              <a:t> 기능</a:t>
            </a:r>
            <a:endParaRPr lang="en-US" altLang="ko-KR" dirty="0"/>
          </a:p>
          <a:p>
            <a:pPr lvl="1"/>
            <a:r>
              <a:rPr lang="en-US" altLang="ko-KR" dirty="0"/>
              <a:t>SQL </a:t>
            </a:r>
            <a:r>
              <a:rPr lang="ko-KR" altLang="en-US" dirty="0"/>
              <a:t>함수는 </a:t>
            </a:r>
            <a:r>
              <a:rPr lang="en-US" altLang="ko-KR" dirty="0"/>
              <a:t>DBMS</a:t>
            </a:r>
            <a:r>
              <a:rPr lang="ko-KR" altLang="en-US" dirty="0"/>
              <a:t>에 미리 만들어져 저장되어 있는지</a:t>
            </a:r>
            <a:r>
              <a:rPr lang="en-US" altLang="ko-KR" dirty="0"/>
              <a:t>, </a:t>
            </a:r>
            <a:r>
              <a:rPr lang="ko-KR" altLang="en-US" dirty="0"/>
              <a:t>사용자가 필요에 따라서 직접 </a:t>
            </a:r>
            <a:r>
              <a:rPr lang="ko-KR" altLang="en-US" dirty="0" err="1"/>
              <a:t>만드는지에따라</a:t>
            </a:r>
            <a:r>
              <a:rPr lang="ko-KR" altLang="en-US" dirty="0"/>
              <a:t> 내장 함수와 사용자 정의 함수로 구분함</a:t>
            </a:r>
          </a:p>
        </p:txBody>
      </p:sp>
    </p:spTree>
    <p:extLst>
      <p:ext uri="{BB962C8B-B14F-4D97-AF65-F5344CB8AC3E}">
        <p14:creationId xmlns:p14="http://schemas.microsoft.com/office/powerpoint/2010/main" val="12550006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1B135B-BCA5-2811-D39B-DE9F3FE8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SQL </a:t>
            </a:r>
            <a:r>
              <a:rPr lang="ko-KR" altLang="en-US" dirty="0"/>
              <a:t>함수의 개념과 종류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5646F17D-9854-464C-C17A-102F2E4E34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0992" y="2204205"/>
            <a:ext cx="6222379" cy="2765502"/>
          </a:xfrm>
        </p:spPr>
      </p:pic>
    </p:spTree>
    <p:extLst>
      <p:ext uri="{BB962C8B-B14F-4D97-AF65-F5344CB8AC3E}">
        <p14:creationId xmlns:p14="http://schemas.microsoft.com/office/powerpoint/2010/main" val="151553550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719572" y="3412604"/>
            <a:ext cx="7704856" cy="1726586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단일 행 함수의 </a:t>
            </a:r>
            <a:endParaRPr lang="en-US" altLang="ko-KR" dirty="0"/>
          </a:p>
          <a:p>
            <a:pPr lvl="0">
              <a:defRPr/>
            </a:pPr>
            <a:r>
              <a:rPr lang="ko-KR" altLang="en-US" dirty="0"/>
              <a:t>종류와 사용법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u="sng" dirty="0"/>
              <a:t>Section 02</a:t>
            </a:r>
          </a:p>
        </p:txBody>
      </p:sp>
    </p:spTree>
    <p:extLst>
      <p:ext uri="{BB962C8B-B14F-4D97-AF65-F5344CB8AC3E}">
        <p14:creationId xmlns:p14="http://schemas.microsoft.com/office/powerpoint/2010/main" val="1206384022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B98B0C-EA66-C50F-480F-18D2C782E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문자형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B40C20-CD2A-97E3-140F-A6979CBD3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문자형 함수</a:t>
            </a:r>
            <a:endParaRPr lang="en-US" altLang="ko-KR" dirty="0"/>
          </a:p>
          <a:p>
            <a:pPr lvl="1"/>
            <a:r>
              <a:rPr lang="ko-KR" altLang="en-US" dirty="0"/>
              <a:t>문자열을 입력하면 문자열이나 숫자 값을 반환하는 함수</a:t>
            </a:r>
            <a:endParaRPr lang="en-US" altLang="ko-KR" dirty="0"/>
          </a:p>
          <a:p>
            <a:pPr lvl="1"/>
            <a:endParaRPr lang="en-US" altLang="ko-KR" sz="1000" dirty="0"/>
          </a:p>
          <a:p>
            <a:r>
              <a:rPr lang="en-US" altLang="ko-KR" dirty="0"/>
              <a:t>CHAR_LENGTH( ), LENGTH( )</a:t>
            </a:r>
          </a:p>
          <a:p>
            <a:pPr lvl="1"/>
            <a:r>
              <a:rPr lang="en-US" altLang="ko-KR" dirty="0"/>
              <a:t>CHAR_LENGTH( 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문자의 개수를 반환하는 함수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LENGTH( 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문자열에 할당된 바이트</a:t>
            </a:r>
            <a:r>
              <a:rPr lang="en-US" altLang="ko-KR" dirty="0"/>
              <a:t>(Byte) </a:t>
            </a:r>
            <a:r>
              <a:rPr lang="ko-KR" altLang="en-US" dirty="0"/>
              <a:t>수를 반환하는 함수</a:t>
            </a:r>
            <a:endParaRPr lang="en-US" altLang="ko-KR" dirty="0"/>
          </a:p>
          <a:p>
            <a:pPr lvl="1"/>
            <a:r>
              <a:rPr lang="ko-KR" altLang="en-US" dirty="0"/>
              <a:t>형식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F913030-C70D-F935-C676-3D00EB2B9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990" y="3427967"/>
            <a:ext cx="6412021" cy="558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278865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B98B0C-EA66-C50F-480F-18D2C782E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문자형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B40C20-CD2A-97E3-140F-A6979CBD3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1" y="774420"/>
            <a:ext cx="8460939" cy="5624910"/>
          </a:xfrm>
        </p:spPr>
        <p:txBody>
          <a:bodyPr/>
          <a:lstStyle/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[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예제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3-1]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영문 ‘</a:t>
            </a:r>
            <a:r>
              <a:rPr lang="en-US" altLang="ko-KR" dirty="0">
                <a:solidFill>
                  <a:schemeClr val="tx1"/>
                </a:solidFill>
              </a:rPr>
              <a:t>HELLO’</a:t>
            </a:r>
            <a:r>
              <a:rPr lang="ko-KR" altLang="en-US" dirty="0">
                <a:solidFill>
                  <a:schemeClr val="tx1"/>
                </a:solidFill>
              </a:rPr>
              <a:t>와 한글 ‘</a:t>
            </a:r>
            <a:r>
              <a:rPr lang="ko-KR" altLang="en-US" dirty="0" err="1">
                <a:solidFill>
                  <a:schemeClr val="tx1"/>
                </a:solidFill>
              </a:rPr>
              <a:t>안녕’의</a:t>
            </a:r>
            <a:r>
              <a:rPr lang="ko-KR" altLang="en-US" dirty="0">
                <a:solidFill>
                  <a:schemeClr val="tx1"/>
                </a:solidFill>
              </a:rPr>
              <a:t> 문자 개수를 세고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결과를 </a:t>
            </a:r>
            <a:r>
              <a:rPr lang="ko-KR" altLang="en-US" dirty="0" err="1">
                <a:solidFill>
                  <a:schemeClr val="tx1"/>
                </a:solidFill>
              </a:rPr>
              <a:t>확인하시오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171C7FD-1B47-9567-3D52-F82E2A9DA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156" y="1448780"/>
            <a:ext cx="6512209" cy="2061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909620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B98B0C-EA66-C50F-480F-18D2C782E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문자형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B40C20-CD2A-97E3-140F-A6979CBD3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CONCAT( ), CONCAT_WS( )</a:t>
            </a:r>
          </a:p>
          <a:p>
            <a:pPr lvl="1"/>
            <a:r>
              <a:rPr lang="en-US" altLang="ko-KR" dirty="0"/>
              <a:t>CONCAT( 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문자열을 연결할 때 사용하는 함수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CONCAT_WS( 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구분자와 함께 문자열을 연결할 때 사용하는 함수</a:t>
            </a:r>
            <a:endParaRPr lang="en-US" altLang="ko-KR" dirty="0"/>
          </a:p>
          <a:p>
            <a:pPr lvl="1"/>
            <a:r>
              <a:rPr lang="ko-KR" altLang="en-US" dirty="0"/>
              <a:t>형식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[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예제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3-2]</a:t>
            </a:r>
            <a:r>
              <a:rPr lang="en-US" altLang="ko-KR" dirty="0">
                <a:solidFill>
                  <a:schemeClr val="tx1"/>
                </a:solidFill>
              </a:rPr>
              <a:t> CONCAT( ) </a:t>
            </a:r>
            <a:r>
              <a:rPr lang="ko-KR" altLang="en-US" dirty="0">
                <a:solidFill>
                  <a:schemeClr val="tx1"/>
                </a:solidFill>
              </a:rPr>
              <a:t>함수와 </a:t>
            </a:r>
            <a:r>
              <a:rPr lang="en-US" altLang="ko-KR" dirty="0">
                <a:solidFill>
                  <a:schemeClr val="tx1"/>
                </a:solidFill>
              </a:rPr>
              <a:t>CONCAT_WS( ) </a:t>
            </a:r>
            <a:r>
              <a:rPr lang="ko-KR" altLang="en-US" dirty="0">
                <a:solidFill>
                  <a:schemeClr val="tx1"/>
                </a:solidFill>
              </a:rPr>
              <a:t>함수를 사용하여 문자열을 연결했을 때의 </a:t>
            </a:r>
            <a:r>
              <a:rPr lang="ko-KR" altLang="en-US" dirty="0" err="1">
                <a:solidFill>
                  <a:schemeClr val="tx1"/>
                </a:solidFill>
              </a:rPr>
              <a:t>결괏값을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ko-KR" altLang="en-US" dirty="0" err="1">
                <a:solidFill>
                  <a:schemeClr val="tx1"/>
                </a:solidFill>
              </a:rPr>
              <a:t>비교하시오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  <a:p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F236F96-3C9B-C276-E985-8ACCD6D2107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667"/>
          <a:stretch/>
        </p:blipFill>
        <p:spPr>
          <a:xfrm>
            <a:off x="1358833" y="2348880"/>
            <a:ext cx="6426334" cy="54005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A3B19A5-E24D-A859-C4D6-5EC5BD9E5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14" y="3982472"/>
            <a:ext cx="6505053" cy="159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539832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B98B0C-EA66-C50F-480F-18D2C782E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문자형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B40C20-CD2A-97E3-140F-A6979CBD3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LEFT( ), RIGHT( ), SUBSTR( )</a:t>
            </a:r>
          </a:p>
          <a:p>
            <a:pPr lvl="1"/>
            <a:r>
              <a:rPr lang="en-US" altLang="ko-KR" dirty="0"/>
              <a:t>LEFT( 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문자열의 왼쪽부터 길이만큼 문자열을 반환하는 함수</a:t>
            </a:r>
            <a:endParaRPr lang="en-US" altLang="ko-KR" dirty="0"/>
          </a:p>
          <a:p>
            <a:pPr lvl="1"/>
            <a:r>
              <a:rPr lang="en-US" altLang="ko-KR" dirty="0"/>
              <a:t>RIGHT( 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문자열의 오른쪽부터 길이만큼 문자열을 반환하는 함수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SUBSTR( 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지정한 위치로부터 길이만큼의 문자열을 반환하는 함수</a:t>
            </a:r>
            <a:endParaRPr lang="en-US" altLang="ko-KR" dirty="0"/>
          </a:p>
          <a:p>
            <a:pPr lvl="1"/>
            <a:r>
              <a:rPr lang="ko-KR" altLang="en-US" dirty="0"/>
              <a:t>형식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C1CA18C-2618-A422-72E5-A69141D85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411" y="2798930"/>
            <a:ext cx="6419177" cy="801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84164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B98B0C-EA66-C50F-480F-18D2C782E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문자형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B40C20-CD2A-97E3-140F-A6979CBD3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[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예제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3-3]</a:t>
            </a:r>
            <a:r>
              <a:rPr lang="en-US" altLang="ko-KR" dirty="0">
                <a:solidFill>
                  <a:schemeClr val="tx1"/>
                </a:solidFill>
              </a:rPr>
              <a:t> ‘SQL </a:t>
            </a:r>
            <a:r>
              <a:rPr lang="ko-KR" altLang="en-US" dirty="0">
                <a:solidFill>
                  <a:schemeClr val="tx1"/>
                </a:solidFill>
              </a:rPr>
              <a:t>완전정복</a:t>
            </a:r>
            <a:r>
              <a:rPr lang="en-US" altLang="ko-KR" dirty="0">
                <a:solidFill>
                  <a:schemeClr val="tx1"/>
                </a:solidFill>
              </a:rPr>
              <a:t>’</a:t>
            </a:r>
            <a:r>
              <a:rPr lang="ko-KR" altLang="en-US" dirty="0">
                <a:solidFill>
                  <a:schemeClr val="tx1"/>
                </a:solidFill>
              </a:rPr>
              <a:t> 문자열에서 지정한 길이만큼 문자열을 </a:t>
            </a:r>
            <a:r>
              <a:rPr lang="ko-KR" altLang="en-US" dirty="0" err="1">
                <a:solidFill>
                  <a:schemeClr val="tx1"/>
                </a:solidFill>
              </a:rPr>
              <a:t>반환하시오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  <a:p>
            <a:endParaRPr lang="en-US" altLang="ko-KR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D90915F6-85A4-BED9-0050-98AA10ADB7D3}"/>
              </a:ext>
            </a:extLst>
          </p:cNvPr>
          <p:cNvGrpSpPr/>
          <p:nvPr/>
        </p:nvGrpSpPr>
        <p:grpSpPr>
          <a:xfrm>
            <a:off x="1421650" y="1763815"/>
            <a:ext cx="6447803" cy="2158730"/>
            <a:chOff x="1348098" y="3217889"/>
            <a:chExt cx="6447803" cy="2158730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E2B7D94-9F00-EACE-0A32-1F5EED0F4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48098" y="3217889"/>
              <a:ext cx="6447803" cy="422220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0B19A082-34DB-133A-C858-EC38155996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48098" y="3609020"/>
              <a:ext cx="6447803" cy="17675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96968292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B98B0C-EA66-C50F-480F-18D2C782E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문자형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B40C20-CD2A-97E3-140F-A6979CBD3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SUBSTRING_INDEX( )</a:t>
            </a:r>
          </a:p>
          <a:p>
            <a:pPr lvl="1"/>
            <a:r>
              <a:rPr lang="en-US" altLang="ko-KR" dirty="0"/>
              <a:t>SUBSTRING_INDEX( 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지정한 구분자를 기준으로 문자열을 분리해서 가져올 때 사용하는 함수</a:t>
            </a:r>
            <a:endParaRPr lang="en-US" altLang="ko-KR" dirty="0"/>
          </a:p>
          <a:p>
            <a:pPr lvl="1"/>
            <a:r>
              <a:rPr lang="ko-KR" altLang="en-US" dirty="0"/>
              <a:t>형식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sz="1000" dirty="0"/>
          </a:p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[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예제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3-4]</a:t>
            </a:r>
            <a:r>
              <a:rPr lang="ko-KR" altLang="en-US" dirty="0">
                <a:solidFill>
                  <a:schemeClr val="tx1"/>
                </a:solidFill>
              </a:rPr>
              <a:t> ‘서울시 동작구 </a:t>
            </a:r>
            <a:r>
              <a:rPr lang="ko-KR" altLang="en-US" dirty="0" err="1">
                <a:solidFill>
                  <a:schemeClr val="tx1"/>
                </a:solidFill>
              </a:rPr>
              <a:t>흑석로’에서</a:t>
            </a:r>
            <a:r>
              <a:rPr lang="ko-KR" altLang="en-US" dirty="0">
                <a:solidFill>
                  <a:schemeClr val="tx1"/>
                </a:solidFill>
              </a:rPr>
              <a:t> 앞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ko-KR" altLang="en-US" dirty="0">
                <a:solidFill>
                  <a:schemeClr val="tx1"/>
                </a:solidFill>
              </a:rPr>
              <a:t>뒤 </a:t>
            </a:r>
            <a:r>
              <a:rPr lang="en-US" altLang="ko-KR" dirty="0">
                <a:solidFill>
                  <a:schemeClr val="tx1"/>
                </a:solidFill>
              </a:rPr>
              <a:t>2</a:t>
            </a:r>
            <a:r>
              <a:rPr lang="ko-KR" altLang="en-US" dirty="0">
                <a:solidFill>
                  <a:schemeClr val="tx1"/>
                </a:solidFill>
              </a:rPr>
              <a:t>번째 위치에 있는 공백</a:t>
            </a:r>
            <a:r>
              <a:rPr lang="en-US" altLang="ko-KR" dirty="0">
                <a:solidFill>
                  <a:schemeClr val="tx1"/>
                </a:solidFill>
              </a:rPr>
              <a:t>(‘ ’)</a:t>
            </a:r>
            <a:r>
              <a:rPr lang="ko-KR" altLang="en-US" dirty="0">
                <a:solidFill>
                  <a:schemeClr val="tx1"/>
                </a:solidFill>
              </a:rPr>
              <a:t>을 기준으로 문자열을 분리한 결과를 </a:t>
            </a:r>
            <a:r>
              <a:rPr lang="ko-KR" altLang="en-US" dirty="0" err="1">
                <a:solidFill>
                  <a:schemeClr val="tx1"/>
                </a:solidFill>
              </a:rPr>
              <a:t>확인하시오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93F2857-1305-3CDC-6477-AD7F2B04B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833" y="2393885"/>
            <a:ext cx="6426334" cy="37212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A892AF9-8058-4CB2-3A52-DE55963CEF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427" y="3769039"/>
            <a:ext cx="6490740" cy="158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567791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B98B0C-EA66-C50F-480F-18D2C782E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문자형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B40C20-CD2A-97E3-140F-A6979CBD3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LPAD( ), RPAD( )</a:t>
            </a:r>
          </a:p>
          <a:p>
            <a:pPr lvl="1"/>
            <a:r>
              <a:rPr lang="en-US" altLang="ko-KR" dirty="0"/>
              <a:t>LPAD( )</a:t>
            </a:r>
            <a:r>
              <a:rPr lang="ko-KR" altLang="en-US" dirty="0"/>
              <a:t>와 </a:t>
            </a:r>
            <a:r>
              <a:rPr lang="en-US" altLang="ko-KR" dirty="0"/>
              <a:t>RPAD( 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지정한 길이에서 문자열을 제외한 빈칸을 특정 문자로 채울 때 사용하는 함수</a:t>
            </a:r>
            <a:endParaRPr lang="en-US" altLang="ko-KR" dirty="0"/>
          </a:p>
          <a:p>
            <a:pPr lvl="1"/>
            <a:r>
              <a:rPr lang="en-US" altLang="ko-KR" dirty="0"/>
              <a:t>LPAD( )</a:t>
            </a:r>
            <a:r>
              <a:rPr lang="ko-KR" altLang="en-US" dirty="0"/>
              <a:t>는 왼쪽에</a:t>
            </a:r>
            <a:r>
              <a:rPr lang="en-US" altLang="ko-KR" dirty="0"/>
              <a:t>, RPAD( )</a:t>
            </a:r>
            <a:r>
              <a:rPr lang="ko-KR" altLang="en-US" dirty="0"/>
              <a:t>는 오른쪽에 특정 문자를 채움</a:t>
            </a:r>
            <a:endParaRPr lang="en-US" altLang="ko-KR" dirty="0"/>
          </a:p>
          <a:p>
            <a:pPr lvl="1"/>
            <a:r>
              <a:rPr lang="ko-KR" altLang="en-US" dirty="0"/>
              <a:t>형식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[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예제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3-5]</a:t>
            </a:r>
            <a:r>
              <a:rPr lang="ko-KR" altLang="en-US" dirty="0">
                <a:solidFill>
                  <a:schemeClr val="tx1"/>
                </a:solidFill>
              </a:rPr>
              <a:t> ‘</a:t>
            </a:r>
            <a:r>
              <a:rPr lang="en-US" altLang="ko-KR" dirty="0">
                <a:solidFill>
                  <a:schemeClr val="tx1"/>
                </a:solidFill>
              </a:rPr>
              <a:t>SQL’ </a:t>
            </a:r>
            <a:r>
              <a:rPr lang="ko-KR" altLang="en-US" dirty="0">
                <a:solidFill>
                  <a:schemeClr val="tx1"/>
                </a:solidFill>
              </a:rPr>
              <a:t>문자열의 앞 </a:t>
            </a:r>
            <a:r>
              <a:rPr lang="en-US" altLang="ko-KR" dirty="0">
                <a:solidFill>
                  <a:schemeClr val="tx1"/>
                </a:solidFill>
              </a:rPr>
              <a:t>7</a:t>
            </a:r>
            <a:r>
              <a:rPr lang="ko-KR" altLang="en-US" dirty="0">
                <a:solidFill>
                  <a:schemeClr val="tx1"/>
                </a:solidFill>
              </a:rPr>
              <a:t>칸에 </a:t>
            </a:r>
            <a:r>
              <a:rPr lang="en-US" altLang="ko-KR" dirty="0">
                <a:solidFill>
                  <a:schemeClr val="tx1"/>
                </a:solidFill>
              </a:rPr>
              <a:t># </a:t>
            </a:r>
            <a:r>
              <a:rPr lang="ko-KR" altLang="en-US" dirty="0">
                <a:solidFill>
                  <a:schemeClr val="tx1"/>
                </a:solidFill>
              </a:rPr>
              <a:t>기호를 채우고</a:t>
            </a:r>
            <a:r>
              <a:rPr lang="en-US" altLang="ko-KR" dirty="0">
                <a:solidFill>
                  <a:schemeClr val="tx1"/>
                </a:solidFill>
              </a:rPr>
              <a:t>, SQL </a:t>
            </a:r>
            <a:r>
              <a:rPr lang="ko-KR" altLang="en-US" dirty="0">
                <a:solidFill>
                  <a:schemeClr val="tx1"/>
                </a:solidFill>
              </a:rPr>
              <a:t>뒤 </a:t>
            </a:r>
            <a:r>
              <a:rPr lang="en-US" altLang="ko-KR" dirty="0">
                <a:solidFill>
                  <a:schemeClr val="tx1"/>
                </a:solidFill>
              </a:rPr>
              <a:t>2</a:t>
            </a:r>
            <a:r>
              <a:rPr lang="ko-KR" altLang="en-US" dirty="0">
                <a:solidFill>
                  <a:schemeClr val="tx1"/>
                </a:solidFill>
              </a:rPr>
              <a:t>칸에는 * 기호를 </a:t>
            </a:r>
            <a:r>
              <a:rPr lang="ko-KR" altLang="en-US" dirty="0" err="1">
                <a:solidFill>
                  <a:schemeClr val="tx1"/>
                </a:solidFill>
              </a:rPr>
              <a:t>채우시오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05B74F1-629A-8CFF-30F5-8D56D4BB7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677" y="2798930"/>
            <a:ext cx="6440646" cy="59397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61B4736-B292-CC5B-6BDF-160A2EF98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1583" y="4194085"/>
            <a:ext cx="6540834" cy="159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310063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B98B0C-EA66-C50F-480F-18D2C782E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문자형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B40C20-CD2A-97E3-140F-A6979CBD3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LTRIM( ), RTRIM( )</a:t>
            </a:r>
          </a:p>
          <a:p>
            <a:pPr lvl="1"/>
            <a:r>
              <a:rPr lang="en-US" altLang="ko-KR" dirty="0"/>
              <a:t>LTRIM( 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왼쪽의 공백을 제거할 때</a:t>
            </a:r>
            <a:r>
              <a:rPr lang="en-US" altLang="ko-KR" dirty="0"/>
              <a:t> </a:t>
            </a:r>
            <a:r>
              <a:rPr lang="ko-KR" altLang="en-US" dirty="0"/>
              <a:t>사용하는 함수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RTRIM( 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오른쪽 공백을 제거할 때 사용하는 함수</a:t>
            </a:r>
            <a:endParaRPr lang="en-US" altLang="ko-KR" dirty="0"/>
          </a:p>
          <a:p>
            <a:pPr lvl="1"/>
            <a:r>
              <a:rPr lang="ko-KR" altLang="en-US" dirty="0"/>
              <a:t>형식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[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예제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3-6]</a:t>
            </a:r>
            <a:r>
              <a:rPr lang="ko-KR" altLang="en-US" dirty="0">
                <a:solidFill>
                  <a:schemeClr val="tx1"/>
                </a:solidFill>
              </a:rPr>
              <a:t> ‘ </a:t>
            </a:r>
            <a:r>
              <a:rPr lang="en-US" altLang="ko-KR" dirty="0">
                <a:solidFill>
                  <a:schemeClr val="tx1"/>
                </a:solidFill>
              </a:rPr>
              <a:t>SQL ’ </a:t>
            </a:r>
            <a:r>
              <a:rPr lang="ko-KR" altLang="en-US" dirty="0">
                <a:solidFill>
                  <a:schemeClr val="tx1"/>
                </a:solidFill>
              </a:rPr>
              <a:t>문자열의 앞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ko-KR" altLang="en-US" dirty="0">
                <a:solidFill>
                  <a:schemeClr val="tx1"/>
                </a:solidFill>
              </a:rPr>
              <a:t>뒤에 있는 공백을 제거하고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결과를 문자열의 길이로 </a:t>
            </a:r>
            <a:r>
              <a:rPr lang="ko-KR" altLang="en-US" dirty="0" err="1">
                <a:solidFill>
                  <a:schemeClr val="tx1"/>
                </a:solidFill>
              </a:rPr>
              <a:t>확인하시오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/>
          </a:p>
          <a:p>
            <a:pPr lvl="1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FEEC9B7-63E8-29C1-1507-96AB0931D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833" y="2348880"/>
            <a:ext cx="6426334" cy="57250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CF6EE78-39D8-3532-CBBA-E94B6E4CC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052" y="3879050"/>
            <a:ext cx="6497896" cy="184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019525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B98B0C-EA66-C50F-480F-18D2C782E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문자형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B40C20-CD2A-97E3-140F-A6979CBD3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TRIM(BOTH/LEADING/TRAILING)</a:t>
            </a:r>
          </a:p>
          <a:p>
            <a:pPr lvl="1"/>
            <a:r>
              <a:rPr lang="ko-KR" altLang="en-US" dirty="0"/>
              <a:t>양쪽에 있는 동일 문자열을 제거하고자 할 때에는 </a:t>
            </a:r>
            <a:r>
              <a:rPr lang="en-US" altLang="ko-KR" dirty="0"/>
              <a:t>TRIM( )</a:t>
            </a:r>
            <a:r>
              <a:rPr lang="ko-KR" altLang="en-US" dirty="0"/>
              <a:t>의 첫 번째 매개변수에 </a:t>
            </a:r>
            <a:r>
              <a:rPr lang="en-US" altLang="ko-KR" dirty="0"/>
              <a:t>BOTH</a:t>
            </a:r>
            <a:r>
              <a:rPr lang="ko-KR" altLang="en-US" dirty="0"/>
              <a:t>를 넣음</a:t>
            </a:r>
          </a:p>
          <a:p>
            <a:pPr lvl="1"/>
            <a:r>
              <a:rPr lang="en-US" altLang="ko-KR" dirty="0"/>
              <a:t>BOTH </a:t>
            </a:r>
            <a:r>
              <a:rPr lang="ko-KR" altLang="en-US" dirty="0"/>
              <a:t>대신 </a:t>
            </a:r>
            <a:r>
              <a:rPr lang="en-US" altLang="ko-KR" dirty="0"/>
              <a:t>LEADING</a:t>
            </a:r>
            <a:r>
              <a:rPr lang="ko-KR" altLang="en-US" dirty="0"/>
              <a:t>을 넣으면 왼쪽에 있는 문자열이</a:t>
            </a:r>
            <a:r>
              <a:rPr lang="en-US" altLang="ko-KR" dirty="0"/>
              <a:t>, TRAILING</a:t>
            </a:r>
            <a:r>
              <a:rPr lang="ko-KR" altLang="en-US" dirty="0"/>
              <a:t>을 넣으면 오른쪽에 있는 문자열이 제거됨</a:t>
            </a:r>
            <a:endParaRPr lang="en-US" altLang="ko-KR" dirty="0"/>
          </a:p>
          <a:p>
            <a:pPr lvl="1"/>
            <a:r>
              <a:rPr lang="ko-KR" altLang="en-US" dirty="0"/>
              <a:t>형식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[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예제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3-7]</a:t>
            </a:r>
            <a:r>
              <a:rPr lang="ko-KR" altLang="en-US" dirty="0">
                <a:solidFill>
                  <a:schemeClr val="tx1"/>
                </a:solidFill>
              </a:rPr>
              <a:t> ‘</a:t>
            </a:r>
            <a:r>
              <a:rPr lang="en-US" altLang="ko-KR" dirty="0" err="1">
                <a:solidFill>
                  <a:schemeClr val="tx1"/>
                </a:solidFill>
              </a:rPr>
              <a:t>abcSQLabcabc</a:t>
            </a:r>
            <a:r>
              <a:rPr lang="en-US" altLang="ko-KR" dirty="0">
                <a:solidFill>
                  <a:schemeClr val="tx1"/>
                </a:solidFill>
              </a:rPr>
              <a:t>’</a:t>
            </a:r>
            <a:r>
              <a:rPr lang="ko-KR" altLang="en-US" dirty="0">
                <a:solidFill>
                  <a:schemeClr val="tx1"/>
                </a:solidFill>
              </a:rPr>
              <a:t>에서 </a:t>
            </a:r>
            <a:r>
              <a:rPr lang="en-US" altLang="ko-KR" dirty="0">
                <a:solidFill>
                  <a:schemeClr val="tx1"/>
                </a:solidFill>
              </a:rPr>
              <a:t>BOTH/LEADING/TRAILING</a:t>
            </a:r>
            <a:r>
              <a:rPr lang="ko-KR" altLang="en-US" dirty="0">
                <a:solidFill>
                  <a:schemeClr val="tx1"/>
                </a:solidFill>
              </a:rPr>
              <a:t>을 사용하여 앞뒤에 있는 ‘</a:t>
            </a:r>
            <a:r>
              <a:rPr lang="en-US" altLang="ko-KR" dirty="0" err="1">
                <a:solidFill>
                  <a:schemeClr val="tx1"/>
                </a:solidFill>
              </a:rPr>
              <a:t>abc</a:t>
            </a:r>
            <a:r>
              <a:rPr lang="en-US" altLang="ko-KR" dirty="0">
                <a:solidFill>
                  <a:schemeClr val="tx1"/>
                </a:solidFill>
              </a:rPr>
              <a:t>’ </a:t>
            </a:r>
            <a:r>
              <a:rPr lang="ko-KR" altLang="en-US" dirty="0">
                <a:solidFill>
                  <a:schemeClr val="tx1"/>
                </a:solidFill>
              </a:rPr>
              <a:t>문자열을 </a:t>
            </a:r>
            <a:r>
              <a:rPr lang="ko-KR" altLang="en-US" dirty="0" err="1">
                <a:solidFill>
                  <a:schemeClr val="tx1"/>
                </a:solidFill>
              </a:rPr>
              <a:t>제거하시오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/>
          </a:p>
          <a:p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052EB3A-C29A-AC26-976E-BF39474A0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677" y="3158970"/>
            <a:ext cx="6440646" cy="56534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BF9E97F-1248-ECD6-E045-8B527C688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1583" y="4578475"/>
            <a:ext cx="6490740" cy="1832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049716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B98B0C-EA66-C50F-480F-18D2C782E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문자형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B40C20-CD2A-97E3-140F-A6979CBD3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FIELD( ), FIND_IN_SET( ), INSTR( ), LOCATE( )</a:t>
            </a:r>
          </a:p>
          <a:p>
            <a:pPr lvl="1"/>
            <a:r>
              <a:rPr lang="en-US" altLang="ko-KR" dirty="0"/>
              <a:t>FIELD( ) : </a:t>
            </a:r>
            <a:r>
              <a:rPr lang="ko-KR" altLang="en-US" dirty="0"/>
              <a:t>여러 문자열 중에서 찾는 문자열이 있으면 문자열의 위치 값을 반환하는 함수</a:t>
            </a:r>
            <a:r>
              <a:rPr lang="en-US" altLang="ko-KR" dirty="0"/>
              <a:t>. </a:t>
            </a:r>
            <a:r>
              <a:rPr lang="ko-KR" altLang="en-US" dirty="0"/>
              <a:t>만약 찾는 문자열이 없으면 </a:t>
            </a:r>
            <a:r>
              <a:rPr lang="en-US" altLang="ko-KR" dirty="0"/>
              <a:t>0</a:t>
            </a:r>
            <a:r>
              <a:rPr lang="ko-KR" altLang="en-US" dirty="0"/>
              <a:t>을 반환함</a:t>
            </a:r>
            <a:endParaRPr lang="en-US" altLang="ko-KR" dirty="0"/>
          </a:p>
          <a:p>
            <a:pPr lvl="1"/>
            <a:r>
              <a:rPr lang="ko-KR" altLang="en-US" dirty="0"/>
              <a:t>형식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FIND_IN_SET( ) : </a:t>
            </a:r>
            <a:r>
              <a:rPr lang="ko-KR" altLang="en-US" dirty="0"/>
              <a:t>문자열 리스트에서 지정한 문자열을 찾아서 위치 값을 반환함</a:t>
            </a:r>
            <a:endParaRPr lang="en-US" altLang="ko-KR" dirty="0"/>
          </a:p>
          <a:p>
            <a:pPr lvl="1"/>
            <a:r>
              <a:rPr lang="ko-KR" altLang="en-US" dirty="0"/>
              <a:t>형식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INSTR( ), LOCATE( ) : </a:t>
            </a:r>
            <a:r>
              <a:rPr lang="ko-KR" altLang="en-US" dirty="0"/>
              <a:t>기준 문자열 중에서 부분 문자열을 찾아서 위치 값을 반환함</a:t>
            </a:r>
            <a:endParaRPr lang="en-US" altLang="ko-KR" dirty="0"/>
          </a:p>
          <a:p>
            <a:pPr lvl="1"/>
            <a:r>
              <a:rPr lang="ko-KR" altLang="en-US" dirty="0"/>
              <a:t>형식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0CE83FF-D5ED-5F35-02BE-84DAE47D4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167" y="2337151"/>
            <a:ext cx="6433490" cy="36497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2C13422-6838-DB09-9F5C-5062C440F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624" y="3586875"/>
            <a:ext cx="6419177" cy="37928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58F9155-560B-41D6-76C1-C032484DBA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5011" y="4850912"/>
            <a:ext cx="6440646" cy="56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784243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B98B0C-EA66-C50F-480F-18D2C782E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문자형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B40C20-CD2A-97E3-140F-A6979CBD3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[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예제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3-8]</a:t>
            </a:r>
            <a:r>
              <a:rPr lang="ko-KR" altLang="en-US" dirty="0">
                <a:solidFill>
                  <a:schemeClr val="tx1"/>
                </a:solidFill>
              </a:rPr>
              <a:t> 문자열의 위치를 찾는 </a:t>
            </a:r>
            <a:r>
              <a:rPr lang="en-US" altLang="ko-KR" dirty="0">
                <a:solidFill>
                  <a:schemeClr val="tx1"/>
                </a:solidFill>
              </a:rPr>
              <a:t>4</a:t>
            </a:r>
            <a:r>
              <a:rPr lang="ko-KR" altLang="en-US" dirty="0">
                <a:solidFill>
                  <a:schemeClr val="tx1"/>
                </a:solidFill>
              </a:rPr>
              <a:t>가지 함수 </a:t>
            </a:r>
            <a:r>
              <a:rPr lang="en-US" altLang="ko-KR" dirty="0">
                <a:solidFill>
                  <a:schemeClr val="tx1"/>
                </a:solidFill>
              </a:rPr>
              <a:t>FIELD( ), FIND_IN_SET( ), INSTR( ), LOCATE( )</a:t>
            </a:r>
            <a:r>
              <a:rPr lang="ko-KR" altLang="en-US" dirty="0">
                <a:solidFill>
                  <a:schemeClr val="tx1"/>
                </a:solidFill>
              </a:rPr>
              <a:t>를 사용하고 결과를 </a:t>
            </a:r>
            <a:r>
              <a:rPr lang="ko-KR" altLang="en-US" dirty="0" err="1">
                <a:solidFill>
                  <a:schemeClr val="tx1"/>
                </a:solidFill>
              </a:rPr>
              <a:t>확인하시오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3A1919D-F31D-7626-1079-23D5D2093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052" y="1763815"/>
            <a:ext cx="6497896" cy="2018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218335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B98B0C-EA66-C50F-480F-18D2C782E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문자형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B40C20-CD2A-97E3-140F-A6979CBD3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ELT( )</a:t>
            </a:r>
          </a:p>
          <a:p>
            <a:pPr lvl="1"/>
            <a:r>
              <a:rPr lang="en-US" altLang="ko-KR" dirty="0"/>
              <a:t>ELT( 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지정한 위치에 있는 문자열을 반환하는 함수</a:t>
            </a:r>
            <a:endParaRPr lang="en-US" altLang="ko-KR" dirty="0"/>
          </a:p>
          <a:p>
            <a:pPr lvl="1"/>
            <a:r>
              <a:rPr lang="en-US" altLang="ko-KR" dirty="0"/>
              <a:t>FIELD( )</a:t>
            </a:r>
            <a:r>
              <a:rPr lang="ko-KR" altLang="en-US" dirty="0"/>
              <a:t>는 첫 매개변수 값에 찾고자 하는 문자열을 넣어주지만</a:t>
            </a:r>
            <a:r>
              <a:rPr lang="en-US" altLang="ko-KR" dirty="0"/>
              <a:t>, ELT( )</a:t>
            </a:r>
            <a:r>
              <a:rPr lang="ko-KR" altLang="en-US" dirty="0"/>
              <a:t>는 찾을 문자열의 위치 값을 넣음</a:t>
            </a:r>
            <a:endParaRPr lang="en-US" altLang="ko-KR" dirty="0"/>
          </a:p>
          <a:p>
            <a:pPr lvl="1"/>
            <a:r>
              <a:rPr lang="ko-KR" altLang="en-US" dirty="0"/>
              <a:t>형식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[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예제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3-9]</a:t>
            </a:r>
            <a:r>
              <a:rPr lang="ko-KR" altLang="en-US" dirty="0">
                <a:solidFill>
                  <a:schemeClr val="tx1"/>
                </a:solidFill>
              </a:rPr>
              <a:t> 문자열의 위치를 찾는 </a:t>
            </a:r>
            <a:r>
              <a:rPr lang="en-US" altLang="ko-KR" dirty="0">
                <a:solidFill>
                  <a:schemeClr val="tx1"/>
                </a:solidFill>
              </a:rPr>
              <a:t>4</a:t>
            </a:r>
            <a:r>
              <a:rPr lang="ko-KR" altLang="en-US" dirty="0">
                <a:solidFill>
                  <a:schemeClr val="tx1"/>
                </a:solidFill>
              </a:rPr>
              <a:t>가지 함수 </a:t>
            </a:r>
            <a:r>
              <a:rPr lang="en-US" altLang="ko-KR" dirty="0">
                <a:solidFill>
                  <a:schemeClr val="tx1"/>
                </a:solidFill>
              </a:rPr>
              <a:t>FIELD( ), FIND_IN_SET( ), INSTR( ), LOCATE( )</a:t>
            </a:r>
            <a:r>
              <a:rPr lang="ko-KR" altLang="en-US" dirty="0">
                <a:solidFill>
                  <a:schemeClr val="tx1"/>
                </a:solidFill>
              </a:rPr>
              <a:t>를 사용하고 결과를 </a:t>
            </a:r>
            <a:r>
              <a:rPr lang="ko-KR" altLang="en-US" dirty="0" err="1">
                <a:solidFill>
                  <a:schemeClr val="tx1"/>
                </a:solidFill>
              </a:rPr>
              <a:t>확인하시오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1E1B4A5-1338-754A-2CA6-4E489EBF6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677" y="2798930"/>
            <a:ext cx="6440646" cy="36497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4396FF9-F96D-742D-23E5-E62F319E9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474" y="4321996"/>
            <a:ext cx="6505053" cy="50093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FAAAEE0-9B7A-A01B-A16C-52BEF0AD12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640" y="4904763"/>
            <a:ext cx="1771177" cy="779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632041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B98B0C-EA66-C50F-480F-18D2C782E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문자형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B40C20-CD2A-97E3-140F-A6979CBD3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REPEAT( )</a:t>
            </a:r>
          </a:p>
          <a:p>
            <a:pPr lvl="1"/>
            <a:r>
              <a:rPr lang="en-US" altLang="ko-KR" dirty="0"/>
              <a:t>REPEAT( 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문자열을 반복하고자 할 때 사용하는 함수</a:t>
            </a:r>
            <a:r>
              <a:rPr lang="en-US" altLang="ko-KR" dirty="0"/>
              <a:t> </a:t>
            </a:r>
          </a:p>
          <a:p>
            <a:pPr lvl="2"/>
            <a:r>
              <a:rPr lang="ko-KR" altLang="en-US" sz="1600" dirty="0"/>
              <a:t>매개변수에 반복할 문자열과 반복할 횟수를 넣음</a:t>
            </a:r>
            <a:endParaRPr lang="en-US" altLang="ko-KR" sz="1600" dirty="0"/>
          </a:p>
          <a:p>
            <a:pPr lvl="1"/>
            <a:r>
              <a:rPr lang="ko-KR" altLang="en-US" dirty="0"/>
              <a:t>형식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[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예제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3-10]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REPEAT( )</a:t>
            </a:r>
            <a:r>
              <a:rPr lang="ko-KR" altLang="en-US" dirty="0">
                <a:solidFill>
                  <a:schemeClr val="tx1"/>
                </a:solidFill>
              </a:rPr>
              <a:t>를 사용하여 ‘*’ </a:t>
            </a:r>
            <a:r>
              <a:rPr lang="en-US" altLang="ko-KR" dirty="0">
                <a:solidFill>
                  <a:schemeClr val="tx1"/>
                </a:solidFill>
              </a:rPr>
              <a:t>5</a:t>
            </a:r>
            <a:r>
              <a:rPr lang="ko-KR" altLang="en-US" dirty="0">
                <a:solidFill>
                  <a:schemeClr val="tx1"/>
                </a:solidFill>
              </a:rPr>
              <a:t>개를 </a:t>
            </a:r>
            <a:r>
              <a:rPr lang="ko-KR" altLang="en-US" dirty="0" err="1">
                <a:solidFill>
                  <a:schemeClr val="tx1"/>
                </a:solidFill>
              </a:rPr>
              <a:t>반복하시오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81CBC78-2578-F417-8E63-F315F2747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677" y="2432052"/>
            <a:ext cx="6440646" cy="38643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4A6A95A-1182-6F1F-899C-8E5AD8BBF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629" y="3654025"/>
            <a:ext cx="6490740" cy="138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635184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B98B0C-EA66-C50F-480F-18D2C782E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문자형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B40C20-CD2A-97E3-140F-A6979CBD3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REPLACE( )</a:t>
            </a:r>
          </a:p>
          <a:p>
            <a:pPr lvl="1"/>
            <a:r>
              <a:rPr lang="en-US" altLang="ko-KR" dirty="0"/>
              <a:t>REPLACE( 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문자열의 일부를 다른 문자열로 대체하고자 할 때 사용하는 함수</a:t>
            </a:r>
            <a:endParaRPr lang="en-US" altLang="ko-KR" dirty="0"/>
          </a:p>
          <a:p>
            <a:pPr lvl="1"/>
            <a:r>
              <a:rPr lang="ko-KR" altLang="en-US" dirty="0"/>
              <a:t>형식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[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예제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3-11]</a:t>
            </a:r>
            <a:r>
              <a:rPr lang="ko-KR" altLang="en-US" dirty="0">
                <a:solidFill>
                  <a:schemeClr val="tx1"/>
                </a:solidFill>
              </a:rPr>
              <a:t> ‘</a:t>
            </a:r>
            <a:r>
              <a:rPr lang="en-US" altLang="ko-KR" dirty="0">
                <a:solidFill>
                  <a:schemeClr val="tx1"/>
                </a:solidFill>
              </a:rPr>
              <a:t>.’</a:t>
            </a:r>
            <a:r>
              <a:rPr lang="ko-KR" altLang="en-US" dirty="0">
                <a:solidFill>
                  <a:schemeClr val="tx1"/>
                </a:solidFill>
              </a:rPr>
              <a:t>로 구분되어 있는 전화번호의 구분자를 ‘</a:t>
            </a:r>
            <a:r>
              <a:rPr lang="en-US" altLang="ko-KR" dirty="0">
                <a:solidFill>
                  <a:schemeClr val="tx1"/>
                </a:solidFill>
              </a:rPr>
              <a:t>–’</a:t>
            </a:r>
            <a:r>
              <a:rPr lang="ko-KR" altLang="en-US" dirty="0">
                <a:solidFill>
                  <a:schemeClr val="tx1"/>
                </a:solidFill>
              </a:rPr>
              <a:t>로 </a:t>
            </a:r>
            <a:r>
              <a:rPr lang="ko-KR" altLang="en-US" dirty="0" err="1">
                <a:solidFill>
                  <a:schemeClr val="tx1"/>
                </a:solidFill>
              </a:rPr>
              <a:t>대체하시오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127CC34-ED4D-0CB3-B92B-AB24A26F9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411" y="2038155"/>
            <a:ext cx="6419177" cy="37928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D2E64F9-4A41-96B1-FEBC-45363E795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629" y="3239438"/>
            <a:ext cx="6490740" cy="1359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456433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B98B0C-EA66-C50F-480F-18D2C782E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문자형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B40C20-CD2A-97E3-140F-A6979CBD3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REVERSE( )</a:t>
            </a:r>
          </a:p>
          <a:p>
            <a:pPr lvl="1"/>
            <a:r>
              <a:rPr lang="en-US" altLang="ko-KR" dirty="0"/>
              <a:t>REVERSE( 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문자열을 거꾸로 뒤집을 때 사용하는 함수</a:t>
            </a:r>
            <a:endParaRPr lang="en-US" altLang="ko-KR" dirty="0"/>
          </a:p>
          <a:p>
            <a:pPr lvl="1"/>
            <a:r>
              <a:rPr lang="ko-KR" altLang="en-US" dirty="0"/>
              <a:t>형식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[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예제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3-12]</a:t>
            </a:r>
            <a:r>
              <a:rPr lang="ko-KR" altLang="en-US" dirty="0">
                <a:solidFill>
                  <a:schemeClr val="tx1"/>
                </a:solidFill>
              </a:rPr>
              <a:t> ‘</a:t>
            </a:r>
            <a:r>
              <a:rPr lang="en-US" altLang="ko-KR" dirty="0">
                <a:solidFill>
                  <a:schemeClr val="tx1"/>
                </a:solidFill>
              </a:rPr>
              <a:t>OLLEH’</a:t>
            </a:r>
            <a:r>
              <a:rPr lang="ko-KR" altLang="en-US" dirty="0">
                <a:solidFill>
                  <a:schemeClr val="tx1"/>
                </a:solidFill>
              </a:rPr>
              <a:t>를 맨 뒤쪽의 문자부터 </a:t>
            </a:r>
            <a:r>
              <a:rPr lang="ko-KR" altLang="en-US" dirty="0" err="1">
                <a:solidFill>
                  <a:schemeClr val="tx1"/>
                </a:solidFill>
              </a:rPr>
              <a:t>나타내시오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EA5DDC3-B88F-730F-78C4-47D2A03AA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520" y="2033845"/>
            <a:ext cx="6454959" cy="37928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EC27780-8D72-D96E-90C7-BEEC2A24A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6710" y="3423856"/>
            <a:ext cx="6512209" cy="136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383573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EB4D80-19DF-C99D-35D9-FB02BB7B8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숫자형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5A297A-AC8A-E5C2-DE7C-84FB1D2CC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숫자형 함수</a:t>
            </a:r>
            <a:endParaRPr lang="en-US" altLang="ko-KR" dirty="0"/>
          </a:p>
          <a:p>
            <a:pPr lvl="1"/>
            <a:r>
              <a:rPr lang="ko-KR" altLang="en-US" dirty="0"/>
              <a:t>숫자를 다루는 단일 행 함수를 통해 올림</a:t>
            </a:r>
            <a:r>
              <a:rPr lang="en-US" altLang="ko-KR" dirty="0"/>
              <a:t>, </a:t>
            </a:r>
            <a:r>
              <a:rPr lang="ko-KR" altLang="en-US" dirty="0"/>
              <a:t>버림</a:t>
            </a:r>
            <a:r>
              <a:rPr lang="en-US" altLang="ko-KR" dirty="0"/>
              <a:t>, </a:t>
            </a:r>
            <a:r>
              <a:rPr lang="ko-KR" altLang="en-US" dirty="0"/>
              <a:t>반올림</a:t>
            </a:r>
            <a:r>
              <a:rPr lang="en-US" altLang="ko-KR" dirty="0"/>
              <a:t>, </a:t>
            </a:r>
            <a:r>
              <a:rPr lang="ko-KR" altLang="en-US" dirty="0"/>
              <a:t>절댓값 반환</a:t>
            </a:r>
            <a:r>
              <a:rPr lang="en-US" altLang="ko-KR" dirty="0"/>
              <a:t>, </a:t>
            </a:r>
            <a:r>
              <a:rPr lang="ko-KR" altLang="en-US" dirty="0"/>
              <a:t>나머지</a:t>
            </a:r>
            <a:r>
              <a:rPr lang="en-US" altLang="ko-KR" dirty="0"/>
              <a:t>, </a:t>
            </a:r>
            <a:r>
              <a:rPr lang="ko-KR" altLang="en-US" dirty="0" err="1"/>
              <a:t>제곱승</a:t>
            </a:r>
            <a:r>
              <a:rPr lang="ko-KR" altLang="en-US" dirty="0"/>
              <a:t> 등의 기능을 수행할 수 있음</a:t>
            </a:r>
            <a:endParaRPr lang="en-US" altLang="ko-KR" dirty="0"/>
          </a:p>
          <a:p>
            <a:pPr lvl="1"/>
            <a:endParaRPr lang="en-US" altLang="ko-KR" sz="1000" dirty="0"/>
          </a:p>
          <a:p>
            <a:r>
              <a:rPr lang="en-US" altLang="ko-KR" dirty="0"/>
              <a:t>CEILING( ), FLOOR( ), ROUND( ), TRUNCATE( )</a:t>
            </a:r>
          </a:p>
          <a:p>
            <a:pPr lvl="1"/>
            <a:r>
              <a:rPr lang="en-US" altLang="ko-KR" dirty="0"/>
              <a:t>CEILING( ) :</a:t>
            </a:r>
            <a:r>
              <a:rPr lang="ko-KR" altLang="en-US" dirty="0"/>
              <a:t> 올림</a:t>
            </a:r>
            <a:r>
              <a:rPr lang="en-US" altLang="ko-KR" dirty="0"/>
              <a:t>, FLOOR( 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버림</a:t>
            </a:r>
            <a:r>
              <a:rPr lang="en-US" altLang="ko-KR" dirty="0"/>
              <a:t>, ROUND( 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지정한 위치에서 반올림</a:t>
            </a:r>
            <a:r>
              <a:rPr lang="en-US" altLang="ko-KR" dirty="0"/>
              <a:t>, TRUNCATE( 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지정한 위치에서 버림 작업을 수행하는 함수</a:t>
            </a:r>
            <a:endParaRPr lang="en-US" altLang="ko-KR" dirty="0"/>
          </a:p>
          <a:p>
            <a:pPr lvl="1"/>
            <a:r>
              <a:rPr lang="ko-KR" altLang="en-US" dirty="0"/>
              <a:t>형식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08ADE33-D77E-9868-324F-A3403B51B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833" y="3699030"/>
            <a:ext cx="6426334" cy="1288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098522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EB4D80-19DF-C99D-35D9-FB02BB7B8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숫자형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5A297A-AC8A-E5C2-DE7C-84FB1D2CC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[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예제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3-13]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123.56</a:t>
            </a:r>
            <a:r>
              <a:rPr lang="ko-KR" altLang="en-US" dirty="0">
                <a:solidFill>
                  <a:schemeClr val="tx1"/>
                </a:solidFill>
              </a:rPr>
              <a:t>에 대해 </a:t>
            </a:r>
            <a:r>
              <a:rPr lang="en-US" altLang="ko-KR" dirty="0">
                <a:solidFill>
                  <a:schemeClr val="tx1"/>
                </a:solidFill>
              </a:rPr>
              <a:t>CEILING( ), FLOOR( ), ROUND( ), TRUNCATE( )</a:t>
            </a:r>
            <a:r>
              <a:rPr lang="ko-KR" altLang="en-US" dirty="0">
                <a:solidFill>
                  <a:schemeClr val="tx1"/>
                </a:solidFill>
              </a:rPr>
              <a:t>를 사용한 결과를 </a:t>
            </a:r>
            <a:r>
              <a:rPr lang="ko-KR" altLang="en-US" dirty="0" err="1">
                <a:solidFill>
                  <a:schemeClr val="tx1"/>
                </a:solidFill>
              </a:rPr>
              <a:t>확인하시오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CA86E9E6-6140-CA20-7B44-BF2174855A82}"/>
              </a:ext>
            </a:extLst>
          </p:cNvPr>
          <p:cNvGrpSpPr/>
          <p:nvPr/>
        </p:nvGrpSpPr>
        <p:grpSpPr>
          <a:xfrm>
            <a:off x="1333786" y="1673805"/>
            <a:ext cx="6476427" cy="2262813"/>
            <a:chOff x="1333786" y="1673805"/>
            <a:chExt cx="6476427" cy="2262813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CAC1A079-973E-84F3-C3CF-0CCE10E7EE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33786" y="1673805"/>
              <a:ext cx="6476427" cy="851596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1EBDE3B0-DEE4-6781-DDDB-6BE05647C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33786" y="2483895"/>
              <a:ext cx="6476427" cy="145272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7238271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EB4D80-19DF-C99D-35D9-FB02BB7B8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숫자형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5A297A-AC8A-E5C2-DE7C-84FB1D2CC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ABS( ), SIGN( )</a:t>
            </a:r>
          </a:p>
          <a:p>
            <a:pPr lvl="1"/>
            <a:r>
              <a:rPr lang="en-US" altLang="ko-KR" dirty="0"/>
              <a:t>ABS( 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절댓값을 반환하는 함수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SIGN( 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양수의 경우 </a:t>
            </a:r>
            <a:r>
              <a:rPr lang="en-US" altLang="ko-KR" dirty="0"/>
              <a:t>1, </a:t>
            </a:r>
            <a:r>
              <a:rPr lang="ko-KR" altLang="en-US" dirty="0"/>
              <a:t>음수의 경우 </a:t>
            </a:r>
            <a:r>
              <a:rPr lang="en-US" altLang="ko-KR" dirty="0"/>
              <a:t>-1</a:t>
            </a:r>
            <a:r>
              <a:rPr lang="ko-KR" altLang="en-US" dirty="0"/>
              <a:t>을 반환하는 함수</a:t>
            </a:r>
            <a:endParaRPr lang="en-US" altLang="ko-KR" dirty="0"/>
          </a:p>
          <a:p>
            <a:pPr lvl="1"/>
            <a:r>
              <a:rPr lang="ko-KR" altLang="en-US" dirty="0"/>
              <a:t>형식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sz="1000" dirty="0"/>
          </a:p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[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예제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3-14]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-120</a:t>
            </a:r>
            <a:r>
              <a:rPr lang="ko-KR" altLang="en-US" dirty="0">
                <a:solidFill>
                  <a:schemeClr val="tx1"/>
                </a:solidFill>
              </a:rPr>
              <a:t>과 </a:t>
            </a:r>
            <a:r>
              <a:rPr lang="en-US" altLang="ko-KR" dirty="0">
                <a:solidFill>
                  <a:schemeClr val="tx1"/>
                </a:solidFill>
              </a:rPr>
              <a:t>120</a:t>
            </a:r>
            <a:r>
              <a:rPr lang="ko-KR" altLang="en-US" dirty="0">
                <a:solidFill>
                  <a:schemeClr val="tx1"/>
                </a:solidFill>
              </a:rPr>
              <a:t>의 절댓값과 음수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양수 여부를 </a:t>
            </a:r>
            <a:r>
              <a:rPr lang="ko-KR" altLang="en-US" dirty="0" err="1">
                <a:solidFill>
                  <a:schemeClr val="tx1"/>
                </a:solidFill>
              </a:rPr>
              <a:t>판별하시오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4BAFC11-EBFE-F99E-7C70-6AAB0D8FA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677" y="2438890"/>
            <a:ext cx="6440646" cy="57250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29E82A2-6CB3-5054-2E59-F29890539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208" y="3832614"/>
            <a:ext cx="6483584" cy="1216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197996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EB4D80-19DF-C99D-35D9-FB02BB7B8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숫자형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5A297A-AC8A-E5C2-DE7C-84FB1D2CC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MOD( )</a:t>
            </a:r>
          </a:p>
          <a:p>
            <a:pPr lvl="1"/>
            <a:r>
              <a:rPr lang="en-US" altLang="ko-KR" dirty="0"/>
              <a:t>MOD( 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나머지를 구하는 함수로 세 가지 방법을 사용할 수 있음</a:t>
            </a:r>
            <a:endParaRPr lang="en-US" altLang="ko-KR" dirty="0"/>
          </a:p>
          <a:p>
            <a:pPr lvl="1"/>
            <a:r>
              <a:rPr lang="ko-KR" altLang="en-US" dirty="0"/>
              <a:t>형식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sz="1000" dirty="0"/>
          </a:p>
          <a:p>
            <a:endParaRPr lang="en-US" altLang="ko-KR" sz="1000" dirty="0"/>
          </a:p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[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예제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3-15]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203</a:t>
            </a:r>
            <a:r>
              <a:rPr lang="ko-KR" altLang="en-US" dirty="0">
                <a:solidFill>
                  <a:schemeClr val="tx1"/>
                </a:solidFill>
              </a:rPr>
              <a:t>을 </a:t>
            </a:r>
            <a:r>
              <a:rPr lang="en-US" altLang="ko-KR" dirty="0">
                <a:solidFill>
                  <a:schemeClr val="tx1"/>
                </a:solidFill>
              </a:rPr>
              <a:t>4</a:t>
            </a:r>
            <a:r>
              <a:rPr lang="ko-KR" altLang="en-US" dirty="0">
                <a:solidFill>
                  <a:schemeClr val="tx1"/>
                </a:solidFill>
              </a:rPr>
              <a:t>로 나눈 나머지를 </a:t>
            </a:r>
            <a:r>
              <a:rPr lang="ko-KR" altLang="en-US" dirty="0" err="1">
                <a:solidFill>
                  <a:schemeClr val="tx1"/>
                </a:solidFill>
              </a:rPr>
              <a:t>확인하시오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CB8620B-34FC-533A-DC04-90412EBF7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098" y="1988840"/>
            <a:ext cx="6447803" cy="80150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C472700-5DE8-EBC1-D73D-66CEE686C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786" y="3432975"/>
            <a:ext cx="6476427" cy="179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537473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EB4D80-19DF-C99D-35D9-FB02BB7B8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숫자형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5A297A-AC8A-E5C2-DE7C-84FB1D2CC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POWER( ), SQRT( ), RAND( )</a:t>
            </a:r>
          </a:p>
          <a:p>
            <a:pPr lvl="1"/>
            <a:r>
              <a:rPr lang="en-US" altLang="ko-KR" dirty="0"/>
              <a:t>POWER( 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n</a:t>
            </a:r>
            <a:r>
              <a:rPr lang="ko-KR" altLang="en-US" dirty="0" err="1"/>
              <a:t>제곱승</a:t>
            </a:r>
            <a:r>
              <a:rPr lang="ko-KR" altLang="en-US" dirty="0"/>
              <a:t> 값을 반환하는 함수</a:t>
            </a:r>
            <a:endParaRPr lang="en-US" altLang="ko-KR" dirty="0"/>
          </a:p>
          <a:p>
            <a:pPr lvl="1"/>
            <a:r>
              <a:rPr lang="en-US" altLang="ko-KR" dirty="0"/>
              <a:t>SQRT( 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제곱근 값을 반환하는 함수</a:t>
            </a:r>
            <a:endParaRPr lang="en-US" altLang="ko-KR" dirty="0"/>
          </a:p>
          <a:p>
            <a:pPr lvl="1"/>
            <a:r>
              <a:rPr lang="en-US" altLang="ko-KR" dirty="0"/>
              <a:t>RAND( 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0</a:t>
            </a:r>
            <a:r>
              <a:rPr lang="ko-KR" altLang="en-US" dirty="0"/>
              <a:t>과 </a:t>
            </a:r>
            <a:r>
              <a:rPr lang="en-US" altLang="ko-KR" dirty="0"/>
              <a:t>1</a:t>
            </a:r>
            <a:r>
              <a:rPr lang="ko-KR" altLang="en-US" dirty="0"/>
              <a:t>사이 임의의 실수 값을 반환하는 함수</a:t>
            </a:r>
          </a:p>
          <a:p>
            <a:pPr lvl="2"/>
            <a:r>
              <a:rPr lang="ko-KR" altLang="en-US" dirty="0"/>
              <a:t>매개변수 값을 넣지 않으면 실행할 때마다 </a:t>
            </a:r>
            <a:r>
              <a:rPr lang="en-US" altLang="ko-KR" dirty="0"/>
              <a:t>0</a:t>
            </a:r>
            <a:r>
              <a:rPr lang="ko-KR" altLang="en-US" dirty="0"/>
              <a:t>과 </a:t>
            </a:r>
            <a:r>
              <a:rPr lang="en-US" altLang="ko-KR" dirty="0"/>
              <a:t>1 </a:t>
            </a:r>
            <a:r>
              <a:rPr lang="ko-KR" altLang="en-US" dirty="0"/>
              <a:t>사이에 있는 임의의 실수를 반환함</a:t>
            </a:r>
          </a:p>
          <a:p>
            <a:pPr lvl="2"/>
            <a:r>
              <a:rPr lang="en-US" altLang="ko-KR" dirty="0"/>
              <a:t>RAND( ) </a:t>
            </a:r>
            <a:r>
              <a:rPr lang="ko-KR" altLang="en-US" dirty="0"/>
              <a:t>안에 </a:t>
            </a:r>
            <a:r>
              <a:rPr lang="ko-KR" altLang="en-US" dirty="0" err="1"/>
              <a:t>시드</a:t>
            </a:r>
            <a:r>
              <a:rPr lang="en-US" altLang="ko-KR" dirty="0"/>
              <a:t>(Seed)</a:t>
            </a:r>
            <a:r>
              <a:rPr lang="ko-KR" altLang="en-US" dirty="0"/>
              <a:t>를 설정하면 매번 동일한 임의의 값을 얻을 수 있음</a:t>
            </a:r>
          </a:p>
          <a:p>
            <a:pPr lvl="2"/>
            <a:r>
              <a:rPr lang="en-US" altLang="ko-KR" dirty="0"/>
              <a:t>ROUND( ), TRUNCATE( ) </a:t>
            </a:r>
            <a:r>
              <a:rPr lang="ko-KR" altLang="en-US" dirty="0"/>
              <a:t>등의 함수를 같이 사용하면 임의의 정수를 만들 수 있음</a:t>
            </a:r>
            <a:endParaRPr lang="en-US" altLang="ko-KR" dirty="0"/>
          </a:p>
          <a:p>
            <a:pPr lvl="1"/>
            <a:r>
              <a:rPr lang="ko-KR" altLang="en-US" dirty="0"/>
              <a:t>형식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0E7A127-6B13-D7CC-B3E6-CAE934F0E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520" y="3924055"/>
            <a:ext cx="6454959" cy="1059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02379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EB4D80-19DF-C99D-35D9-FB02BB7B8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숫자형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5A297A-AC8A-E5C2-DE7C-84FB1D2CC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[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예제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3-16]</a:t>
            </a:r>
            <a:r>
              <a:rPr lang="ko-KR" altLang="en-US" dirty="0">
                <a:solidFill>
                  <a:schemeClr val="tx1"/>
                </a:solidFill>
              </a:rPr>
              <a:t> 제곱과 제곱근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 err="1">
                <a:solidFill>
                  <a:schemeClr val="tx1"/>
                </a:solidFill>
              </a:rPr>
              <a:t>랜덤값을</a:t>
            </a:r>
            <a:r>
              <a:rPr lang="ko-KR" altLang="en-US" dirty="0">
                <a:solidFill>
                  <a:schemeClr val="tx1"/>
                </a:solidFill>
              </a:rPr>
              <a:t> 구하는 함수를 사용하고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그 결과를 </a:t>
            </a:r>
            <a:r>
              <a:rPr lang="ko-KR" altLang="en-US" dirty="0" err="1">
                <a:solidFill>
                  <a:schemeClr val="tx1"/>
                </a:solidFill>
              </a:rPr>
              <a:t>보이시오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8306C18-977D-8477-63E2-E79246140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629" y="1628800"/>
            <a:ext cx="6490740" cy="2275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487602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51F210-6267-6CC5-C94F-0B64AFAB4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날짜</a:t>
            </a:r>
            <a:r>
              <a:rPr lang="en-US" altLang="ko-KR" dirty="0"/>
              <a:t>/</a:t>
            </a:r>
            <a:r>
              <a:rPr lang="ko-KR" altLang="en-US" dirty="0"/>
              <a:t>시간형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2138BE-7B34-57B3-D857-47A90A40A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현재 날짜</a:t>
            </a:r>
            <a:r>
              <a:rPr lang="en-US" altLang="ko-KR" dirty="0"/>
              <a:t>/</a:t>
            </a:r>
            <a:r>
              <a:rPr lang="ko-KR" altLang="en-US" dirty="0"/>
              <a:t>시간 반환 함수</a:t>
            </a:r>
            <a:endParaRPr lang="en-US" altLang="ko-KR" dirty="0"/>
          </a:p>
          <a:p>
            <a:pPr lvl="1"/>
            <a:r>
              <a:rPr lang="en-US" altLang="ko-KR" dirty="0"/>
              <a:t>NOW(), SYSDATE(), CURDATE(), CURTIME() </a:t>
            </a:r>
          </a:p>
          <a:p>
            <a:pPr lvl="2"/>
            <a:r>
              <a:rPr lang="ko-KR" altLang="en-US" dirty="0"/>
              <a:t>현재 날짜와 시간을 반환하는 함수</a:t>
            </a:r>
            <a:endParaRPr lang="en-US" altLang="ko-KR" dirty="0"/>
          </a:p>
          <a:p>
            <a:pPr lvl="1"/>
            <a:r>
              <a:rPr lang="en-US" altLang="ko-KR" dirty="0"/>
              <a:t>NOW( ),</a:t>
            </a:r>
            <a:r>
              <a:rPr lang="ko-KR" altLang="en-US" dirty="0"/>
              <a:t> </a:t>
            </a:r>
            <a:r>
              <a:rPr lang="en-US" altLang="ko-KR" dirty="0"/>
              <a:t>SYSDATE( 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시스템의 현재 날짜와 시간을 반환함</a:t>
            </a:r>
            <a:endParaRPr lang="en-US" altLang="ko-KR" dirty="0"/>
          </a:p>
          <a:p>
            <a:pPr lvl="1"/>
            <a:r>
              <a:rPr lang="en-US" altLang="ko-KR" dirty="0"/>
              <a:t>CURDATE( 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시스템의 현재 날짜를 반환함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CURTIME( 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시스템의 현재 시간을 반환함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[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예제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3-17]</a:t>
            </a:r>
            <a:r>
              <a:rPr lang="ko-KR" altLang="en-US" dirty="0">
                <a:solidFill>
                  <a:schemeClr val="tx1"/>
                </a:solidFill>
              </a:rPr>
              <a:t> 현재 날짜와 시간을 다양한 형태로 </a:t>
            </a:r>
            <a:r>
              <a:rPr lang="ko-KR" altLang="en-US" dirty="0" err="1">
                <a:solidFill>
                  <a:schemeClr val="tx1"/>
                </a:solidFill>
              </a:rPr>
              <a:t>반환하시오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5AF67A-E1D2-2250-56E9-63F1131F9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786" y="3924055"/>
            <a:ext cx="6476427" cy="120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297676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51F210-6267-6CC5-C94F-0B64AFAB4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날짜</a:t>
            </a:r>
            <a:r>
              <a:rPr lang="en-US" altLang="ko-KR" dirty="0"/>
              <a:t>/</a:t>
            </a:r>
            <a:r>
              <a:rPr lang="ko-KR" altLang="en-US" dirty="0"/>
              <a:t>시간형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2138BE-7B34-57B3-D857-47A90A40A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연도</a:t>
            </a:r>
            <a:r>
              <a:rPr lang="en-US" altLang="ko-KR" dirty="0"/>
              <a:t>, </a:t>
            </a:r>
            <a:r>
              <a:rPr lang="ko-KR" altLang="en-US" dirty="0"/>
              <a:t>분기</a:t>
            </a:r>
            <a:r>
              <a:rPr lang="en-US" altLang="ko-KR" dirty="0"/>
              <a:t>, </a:t>
            </a:r>
            <a:r>
              <a:rPr lang="ko-KR" altLang="en-US" dirty="0"/>
              <a:t>월</a:t>
            </a:r>
            <a:r>
              <a:rPr lang="en-US" altLang="ko-KR" dirty="0"/>
              <a:t>, </a:t>
            </a:r>
            <a:r>
              <a:rPr lang="ko-KR" altLang="en-US" dirty="0"/>
              <a:t>일</a:t>
            </a:r>
            <a:r>
              <a:rPr lang="en-US" altLang="ko-KR" dirty="0"/>
              <a:t>, </a:t>
            </a:r>
            <a:r>
              <a:rPr lang="ko-KR" altLang="en-US" dirty="0"/>
              <a:t>시</a:t>
            </a:r>
            <a:r>
              <a:rPr lang="en-US" altLang="ko-KR" dirty="0"/>
              <a:t>, </a:t>
            </a:r>
            <a:r>
              <a:rPr lang="ko-KR" altLang="en-US" dirty="0"/>
              <a:t>분</a:t>
            </a:r>
            <a:r>
              <a:rPr lang="en-US" altLang="ko-KR" dirty="0"/>
              <a:t>, </a:t>
            </a:r>
            <a:r>
              <a:rPr lang="ko-KR" altLang="en-US" dirty="0"/>
              <a:t>초 반환 함수</a:t>
            </a:r>
          </a:p>
          <a:p>
            <a:pPr lvl="1"/>
            <a:r>
              <a:rPr lang="en-US" altLang="ko-KR" dirty="0"/>
              <a:t>YEAR( ), QUARTER( ), MONTH( ), DAY( ), HOUR( ), MINUTE( ), SECOND( )</a:t>
            </a:r>
          </a:p>
          <a:p>
            <a:pPr lvl="2"/>
            <a:r>
              <a:rPr lang="ko-KR" altLang="en-US" dirty="0"/>
              <a:t>날짜 중 해당 값을 반환함</a:t>
            </a:r>
            <a:endParaRPr lang="en-US" altLang="ko-KR" dirty="0"/>
          </a:p>
          <a:p>
            <a:pPr lvl="2"/>
            <a:r>
              <a:rPr lang="en-US" altLang="ko-KR" dirty="0"/>
              <a:t>[</a:t>
            </a:r>
            <a:r>
              <a:rPr lang="ko-KR" altLang="en-US" dirty="0"/>
              <a:t>예</a:t>
            </a:r>
            <a:r>
              <a:rPr lang="en-US" altLang="ko-KR" dirty="0"/>
              <a:t>] YEAR( )</a:t>
            </a:r>
            <a:r>
              <a:rPr lang="ko-KR" altLang="en-US" dirty="0"/>
              <a:t>는 날짜 중 연도를</a:t>
            </a:r>
            <a:r>
              <a:rPr lang="en-US" altLang="ko-KR" dirty="0"/>
              <a:t>, QUARTER( )</a:t>
            </a:r>
            <a:r>
              <a:rPr lang="ko-KR" altLang="en-US" dirty="0"/>
              <a:t>는 날짜 중 분기를 반환함</a:t>
            </a:r>
            <a:endParaRPr lang="en-US" altLang="ko-KR" dirty="0"/>
          </a:p>
          <a:p>
            <a:pPr lvl="2"/>
            <a:endParaRPr lang="en-US" altLang="ko-KR" dirty="0"/>
          </a:p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[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예제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3-18]</a:t>
            </a:r>
            <a:r>
              <a:rPr lang="ko-KR" altLang="en-US" dirty="0">
                <a:solidFill>
                  <a:schemeClr val="tx1"/>
                </a:solidFill>
              </a:rPr>
              <a:t> 날짜에 관한 다양한 함수의 결과를 </a:t>
            </a:r>
            <a:r>
              <a:rPr lang="ko-KR" altLang="en-US" dirty="0" err="1">
                <a:solidFill>
                  <a:schemeClr val="tx1"/>
                </a:solidFill>
              </a:rPr>
              <a:t>확인하시오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2BC0EB2-3866-23B7-8DD1-A2021D72C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629" y="3143067"/>
            <a:ext cx="6490740" cy="294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957514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51F210-6267-6CC5-C94F-0B64AFAB4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날짜</a:t>
            </a:r>
            <a:r>
              <a:rPr lang="en-US" altLang="ko-KR" dirty="0"/>
              <a:t>/</a:t>
            </a:r>
            <a:r>
              <a:rPr lang="ko-KR" altLang="en-US" dirty="0"/>
              <a:t>시간형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2138BE-7B34-57B3-D857-47A90A40A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기간 반환 함수</a:t>
            </a:r>
          </a:p>
          <a:p>
            <a:pPr lvl="1"/>
            <a:r>
              <a:rPr lang="en-US" altLang="ko-KR" dirty="0"/>
              <a:t>DATEDIFF( ), TIMESTAMPDIFF( ) </a:t>
            </a:r>
          </a:p>
          <a:p>
            <a:pPr lvl="2"/>
            <a:r>
              <a:rPr lang="ko-KR" altLang="en-US" dirty="0"/>
              <a:t>지정한 기간을 반환하는 함수</a:t>
            </a:r>
            <a:endParaRPr lang="en-US" altLang="ko-KR" dirty="0"/>
          </a:p>
          <a:p>
            <a:pPr lvl="1"/>
            <a:r>
              <a:rPr lang="en-US" altLang="ko-KR" dirty="0"/>
              <a:t>DATEDIFF( ) :</a:t>
            </a:r>
            <a:r>
              <a:rPr lang="ko-KR" altLang="en-US" dirty="0"/>
              <a:t> 기간을 일자 기준으로 반환함</a:t>
            </a:r>
            <a:endParaRPr lang="en-US" altLang="ko-KR" dirty="0"/>
          </a:p>
          <a:p>
            <a:pPr lvl="1"/>
            <a:r>
              <a:rPr lang="en-US" altLang="ko-KR" dirty="0"/>
              <a:t>TIMESTAMPDIFF( 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기간을 지정한 단위 기준으로 보여줌</a:t>
            </a:r>
            <a:r>
              <a:rPr lang="en-US" altLang="ko-KR" dirty="0"/>
              <a:t> </a:t>
            </a:r>
          </a:p>
          <a:p>
            <a:pPr lvl="2"/>
            <a:r>
              <a:rPr lang="en-US" altLang="ko-KR" dirty="0"/>
              <a:t>DATEDIFF( )</a:t>
            </a:r>
            <a:r>
              <a:rPr lang="ko-KR" altLang="en-US" dirty="0"/>
              <a:t>는 끝 일자를 앞에 넣어주고</a:t>
            </a:r>
            <a:r>
              <a:rPr lang="en-US" altLang="ko-KR" dirty="0"/>
              <a:t>, TIMESTAMPDIFF( )</a:t>
            </a:r>
            <a:r>
              <a:rPr lang="ko-KR" altLang="en-US" dirty="0"/>
              <a:t>는 끝 일자를 뒤에 넣음</a:t>
            </a:r>
            <a:endParaRPr lang="en-US" altLang="ko-KR" dirty="0"/>
          </a:p>
          <a:p>
            <a:pPr lvl="1"/>
            <a:r>
              <a:rPr lang="ko-KR" altLang="en-US" dirty="0"/>
              <a:t>형식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59EE512-F21F-A803-2E12-FFC6A8802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254" y="3531573"/>
            <a:ext cx="6433490" cy="572502"/>
          </a:xfrm>
          <a:prstGeom prst="rect">
            <a:avLst/>
          </a:prstGeom>
        </p:spPr>
      </p:pic>
      <p:pic>
        <p:nvPicPr>
          <p:cNvPr id="8" name="그림 7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BD9D39B5-99B1-16ED-44CB-9D6327905D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473" y="4368089"/>
            <a:ext cx="6505053" cy="166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803065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51F210-6267-6CC5-C94F-0B64AFAB4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날짜</a:t>
            </a:r>
            <a:r>
              <a:rPr lang="en-US" altLang="ko-KR" dirty="0"/>
              <a:t>/</a:t>
            </a:r>
            <a:r>
              <a:rPr lang="ko-KR" altLang="en-US" dirty="0"/>
              <a:t>시간형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2138BE-7B34-57B3-D857-47A90A40A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[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예제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3-19]</a:t>
            </a:r>
            <a:r>
              <a:rPr lang="ko-KR" altLang="en-US" dirty="0">
                <a:solidFill>
                  <a:schemeClr val="tx1"/>
                </a:solidFill>
              </a:rPr>
              <a:t> 현재 날짜를 기준으로 날짜 사이의 기간을 </a:t>
            </a:r>
            <a:r>
              <a:rPr lang="ko-KR" altLang="en-US" dirty="0" err="1">
                <a:solidFill>
                  <a:schemeClr val="tx1"/>
                </a:solidFill>
              </a:rPr>
              <a:t>확인하시오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13A10AB-1E5B-38C7-4B92-F219ED60F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629" y="1358770"/>
            <a:ext cx="6490740" cy="2561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0066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51F210-6267-6CC5-C94F-0B64AFAB4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날짜</a:t>
            </a:r>
            <a:r>
              <a:rPr lang="en-US" altLang="ko-KR" dirty="0"/>
              <a:t>/</a:t>
            </a:r>
            <a:r>
              <a:rPr lang="ko-KR" altLang="en-US" dirty="0"/>
              <a:t>시간형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2138BE-7B34-57B3-D857-47A90A40A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기간을 반영하는 날짜 함수</a:t>
            </a:r>
          </a:p>
          <a:p>
            <a:pPr lvl="1"/>
            <a:r>
              <a:rPr lang="en-US" altLang="ko-KR" dirty="0"/>
              <a:t>ADDDATE( ) : </a:t>
            </a:r>
            <a:r>
              <a:rPr lang="ko-KR" altLang="en-US" dirty="0"/>
              <a:t>지정한 날짜를 기준으로 그 기간만큼 더한 날짜를 반환하는 함수</a:t>
            </a:r>
            <a:endParaRPr lang="en-US" altLang="ko-KR" dirty="0"/>
          </a:p>
          <a:p>
            <a:pPr lvl="1"/>
            <a:r>
              <a:rPr lang="en-US" altLang="ko-KR" dirty="0"/>
              <a:t>SUBDATE( ) : </a:t>
            </a:r>
            <a:r>
              <a:rPr lang="ko-KR" altLang="en-US" dirty="0"/>
              <a:t>기간만큼 뺀 날짜를 반환함</a:t>
            </a:r>
            <a:endParaRPr lang="en-US" altLang="ko-KR" dirty="0"/>
          </a:p>
          <a:p>
            <a:pPr lvl="1"/>
            <a:r>
              <a:rPr lang="ko-KR" altLang="en-US" dirty="0"/>
              <a:t>형식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[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예제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3-20]</a:t>
            </a:r>
            <a:r>
              <a:rPr lang="ko-KR" altLang="en-US" dirty="0">
                <a:solidFill>
                  <a:schemeClr val="tx1"/>
                </a:solidFill>
              </a:rPr>
              <a:t> 오늘 날짜 및 오늘 날짜로부터 </a:t>
            </a:r>
            <a:r>
              <a:rPr lang="en-US" altLang="ko-KR" dirty="0">
                <a:solidFill>
                  <a:schemeClr val="tx1"/>
                </a:solidFill>
              </a:rPr>
              <a:t>50</a:t>
            </a:r>
            <a:r>
              <a:rPr lang="ko-KR" altLang="en-US" dirty="0">
                <a:solidFill>
                  <a:schemeClr val="tx1"/>
                </a:solidFill>
              </a:rPr>
              <a:t>일 후</a:t>
            </a:r>
            <a:r>
              <a:rPr lang="en-US" altLang="ko-KR" dirty="0">
                <a:solidFill>
                  <a:schemeClr val="tx1"/>
                </a:solidFill>
              </a:rPr>
              <a:t>, 50</a:t>
            </a:r>
            <a:r>
              <a:rPr lang="ko-KR" altLang="en-US" dirty="0">
                <a:solidFill>
                  <a:schemeClr val="tx1"/>
                </a:solidFill>
              </a:rPr>
              <a:t>개월 후</a:t>
            </a:r>
            <a:r>
              <a:rPr lang="en-US" altLang="ko-KR" dirty="0">
                <a:solidFill>
                  <a:schemeClr val="tx1"/>
                </a:solidFill>
              </a:rPr>
              <a:t>, 50</a:t>
            </a:r>
            <a:r>
              <a:rPr lang="ko-KR" altLang="en-US" dirty="0">
                <a:solidFill>
                  <a:schemeClr val="tx1"/>
                </a:solidFill>
              </a:rPr>
              <a:t>시간 전의 날짜를 </a:t>
            </a:r>
            <a:r>
              <a:rPr lang="ko-KR" altLang="en-US" dirty="0" err="1">
                <a:solidFill>
                  <a:schemeClr val="tx1"/>
                </a:solidFill>
              </a:rPr>
              <a:t>확인하시오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6B11C2A-811F-511E-3549-A426B1D3C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255" y="2392152"/>
            <a:ext cx="6433490" cy="10376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95705ED-F10F-5A0F-21F0-4CA829F14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208" y="4341491"/>
            <a:ext cx="6483584" cy="2211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28467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51F210-6267-6CC5-C94F-0B64AFAB4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날짜</a:t>
            </a:r>
            <a:r>
              <a:rPr lang="en-US" altLang="ko-KR" dirty="0"/>
              <a:t>/</a:t>
            </a:r>
            <a:r>
              <a:rPr lang="ko-KR" altLang="en-US" dirty="0"/>
              <a:t>시간형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2138BE-7B34-57B3-D857-47A90A40A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기타 날짜 반환 함수</a:t>
            </a:r>
          </a:p>
          <a:p>
            <a:pPr lvl="1"/>
            <a:r>
              <a:rPr lang="en-US" altLang="ko-KR" dirty="0"/>
              <a:t>LAST_DAY( )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해당 월의 마지막 일자를 반환함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DAYOFYEAR( 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현재 연도에서 </a:t>
            </a:r>
            <a:r>
              <a:rPr lang="ko-KR" altLang="en-US" dirty="0" err="1"/>
              <a:t>며칠이지났는지를</a:t>
            </a:r>
            <a:r>
              <a:rPr lang="ko-KR" altLang="en-US" dirty="0"/>
              <a:t> 반환함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MONTHNAME( )</a:t>
            </a:r>
            <a:r>
              <a:rPr lang="ko-KR" altLang="en-US" dirty="0"/>
              <a:t>은 월을 영문으로</a:t>
            </a:r>
            <a:r>
              <a:rPr lang="en-US" altLang="ko-KR" dirty="0"/>
              <a:t>, WEEKDAY( )</a:t>
            </a:r>
            <a:r>
              <a:rPr lang="ko-KR" altLang="en-US" dirty="0"/>
              <a:t>는 요일을 정수로 보여줌</a:t>
            </a:r>
            <a:endParaRPr lang="en-US" altLang="ko-KR" dirty="0"/>
          </a:p>
          <a:p>
            <a:pPr lvl="1"/>
            <a:r>
              <a:rPr lang="ko-KR" altLang="en-US" dirty="0"/>
              <a:t>형식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E9A2809-CC54-C037-D3AA-3F6143BD2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255" y="2798930"/>
            <a:ext cx="6433490" cy="1037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567613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51F210-6267-6CC5-C94F-0B64AFAB4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날짜</a:t>
            </a:r>
            <a:r>
              <a:rPr lang="en-US" altLang="ko-KR" dirty="0"/>
              <a:t>/</a:t>
            </a:r>
            <a:r>
              <a:rPr lang="ko-KR" altLang="en-US" dirty="0"/>
              <a:t>시간형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2138BE-7B34-57B3-D857-47A90A40A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[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예제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3-21]</a:t>
            </a:r>
            <a:r>
              <a:rPr lang="ko-KR" altLang="en-US" dirty="0">
                <a:solidFill>
                  <a:schemeClr val="tx1"/>
                </a:solidFill>
              </a:rPr>
              <a:t> 오늘 날짜를 기준으로 이번 달 마지막 날짜와 일 년 중 몇 일째인지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그리고 월 이름과 요일을 </a:t>
            </a:r>
            <a:r>
              <a:rPr lang="ko-KR" altLang="en-US" dirty="0" err="1">
                <a:solidFill>
                  <a:schemeClr val="tx1"/>
                </a:solidFill>
              </a:rPr>
              <a:t>확인하시오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D45E3D7-2CBA-2A65-A625-0B7F1825D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052" y="1628800"/>
            <a:ext cx="6497896" cy="2261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45657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A8E53B-08A5-66D5-3A12-B3407C8CD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날짜</a:t>
            </a:r>
            <a:r>
              <a:rPr lang="en-US" altLang="ko-KR" dirty="0"/>
              <a:t>/</a:t>
            </a:r>
            <a:r>
              <a:rPr lang="ko-KR" altLang="en-US" dirty="0"/>
              <a:t>시간형 함수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375C1A03-14A1-AA89-D0D4-B32C0307BF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0992" y="2168860"/>
            <a:ext cx="6222379" cy="2807242"/>
          </a:xfrm>
        </p:spPr>
      </p:pic>
    </p:spTree>
    <p:extLst>
      <p:ext uri="{BB962C8B-B14F-4D97-AF65-F5344CB8AC3E}">
        <p14:creationId xmlns:p14="http://schemas.microsoft.com/office/powerpoint/2010/main" val="2598468102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719572" y="3412604"/>
            <a:ext cx="7704856" cy="938937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4400" dirty="0"/>
              <a:t>기타 단일 행 함수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u="sng" dirty="0"/>
              <a:t>Section 03</a:t>
            </a:r>
          </a:p>
        </p:txBody>
      </p:sp>
    </p:spTree>
    <p:extLst>
      <p:ext uri="{BB962C8B-B14F-4D97-AF65-F5344CB8AC3E}">
        <p14:creationId xmlns:p14="http://schemas.microsoft.com/office/powerpoint/2010/main" val="2769970491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43C046-D1D7-88C0-2D23-4CFE70277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형 변환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A49295-8512-9CBD-DD0E-AD813587C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형 변환 함수</a:t>
            </a:r>
            <a:endParaRPr lang="en-US" altLang="ko-KR" dirty="0"/>
          </a:p>
          <a:p>
            <a:pPr lvl="1"/>
            <a:r>
              <a:rPr lang="ko-KR" altLang="en-US" dirty="0"/>
              <a:t>데이터를 검색</a:t>
            </a:r>
            <a:r>
              <a:rPr lang="en-US" altLang="ko-KR" dirty="0"/>
              <a:t>,</a:t>
            </a:r>
            <a:r>
              <a:rPr lang="ko-KR" altLang="en-US" dirty="0"/>
              <a:t> 삽입할 때 컬럼에 맞는 형식으로 지정하지 않으면 오류가 나는 경우에 사용하는 함수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CAST( ), CONVERT( )</a:t>
            </a:r>
          </a:p>
          <a:p>
            <a:pPr lvl="1"/>
            <a:r>
              <a:rPr lang="ko-KR" altLang="en-US" dirty="0"/>
              <a:t>원하는 형태로 데이터타입을 변경하여 처리하거나 확인할 수 있음</a:t>
            </a:r>
            <a:endParaRPr lang="en-US" altLang="ko-KR" dirty="0"/>
          </a:p>
          <a:p>
            <a:pPr lvl="1"/>
            <a:r>
              <a:rPr lang="ko-KR" altLang="en-US" dirty="0"/>
              <a:t>형식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EABACC8-4542-44D2-CA20-97F5206FD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255" y="3429000"/>
            <a:ext cx="6433490" cy="57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599169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43C046-D1D7-88C0-2D23-4CFE70277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형 변환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A49295-8512-9CBD-DD0E-AD813587C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[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예제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3-22]</a:t>
            </a:r>
            <a:r>
              <a:rPr lang="ko-KR" altLang="en-US" dirty="0">
                <a:solidFill>
                  <a:schemeClr val="tx1"/>
                </a:solidFill>
              </a:rPr>
              <a:t> 문자 ‘</a:t>
            </a:r>
            <a:r>
              <a:rPr lang="en-US" altLang="ko-KR" dirty="0">
                <a:solidFill>
                  <a:schemeClr val="tx1"/>
                </a:solidFill>
              </a:rPr>
              <a:t>1’</a:t>
            </a:r>
            <a:r>
              <a:rPr lang="ko-KR" altLang="en-US" dirty="0">
                <a:solidFill>
                  <a:schemeClr val="tx1"/>
                </a:solidFill>
              </a:rPr>
              <a:t>을 부호 없는 숫자 형식으로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숫자 </a:t>
            </a:r>
            <a:r>
              <a:rPr lang="en-US" altLang="ko-KR" dirty="0">
                <a:solidFill>
                  <a:schemeClr val="tx1"/>
                </a:solidFill>
              </a:rPr>
              <a:t>2</a:t>
            </a:r>
            <a:r>
              <a:rPr lang="ko-KR" altLang="en-US" dirty="0">
                <a:solidFill>
                  <a:schemeClr val="tx1"/>
                </a:solidFill>
              </a:rPr>
              <a:t>를 문자 형식으로 </a:t>
            </a:r>
            <a:r>
              <a:rPr lang="ko-KR" altLang="en-US" dirty="0" err="1">
                <a:solidFill>
                  <a:schemeClr val="tx1"/>
                </a:solidFill>
              </a:rPr>
              <a:t>변환하시오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A598350-48E2-5993-7500-F52F895D7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052" y="1763815"/>
            <a:ext cx="6497896" cy="2018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790194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29EE7F-2421-BBD8-14CE-8B15B9291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제어 흐름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13BC58-9EC1-2032-E76B-2282115F2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제어 흐름 함수</a:t>
            </a:r>
            <a:endParaRPr lang="en-US" altLang="ko-KR" dirty="0"/>
          </a:p>
          <a:p>
            <a:pPr lvl="1"/>
            <a:r>
              <a:rPr lang="ko-KR" altLang="en-US" dirty="0"/>
              <a:t>프로그램의 흐름을 제어할 때 사용함</a:t>
            </a:r>
            <a:r>
              <a:rPr lang="en-US" altLang="ko-KR" dirty="0"/>
              <a:t> </a:t>
            </a:r>
          </a:p>
          <a:p>
            <a:pPr lvl="1"/>
            <a:r>
              <a:rPr lang="ko-KR" altLang="en-US" dirty="0"/>
              <a:t>조건에 따른 결과를 </a:t>
            </a:r>
            <a:r>
              <a:rPr lang="en-US" altLang="ko-KR" dirty="0"/>
              <a:t>SQL </a:t>
            </a:r>
            <a:r>
              <a:rPr lang="ko-KR" altLang="en-US" dirty="0"/>
              <a:t>문장 하나로 얻을 수 있음</a:t>
            </a:r>
            <a:endParaRPr lang="en-US" altLang="ko-KR" dirty="0"/>
          </a:p>
          <a:p>
            <a:pPr lvl="1"/>
            <a:endParaRPr lang="en-US" altLang="ko-KR" sz="1000" dirty="0"/>
          </a:p>
          <a:p>
            <a:r>
              <a:rPr lang="en-US" altLang="ko-KR" dirty="0"/>
              <a:t>IF</a:t>
            </a:r>
          </a:p>
          <a:p>
            <a:pPr lvl="1"/>
            <a:r>
              <a:rPr lang="en-US" altLang="ko-KR" dirty="0"/>
              <a:t>IF(</a:t>
            </a:r>
            <a:r>
              <a:rPr lang="ko-KR" altLang="en-US" dirty="0"/>
              <a:t>조건</a:t>
            </a:r>
            <a:r>
              <a:rPr lang="en-US" altLang="ko-KR" dirty="0"/>
              <a:t>, </a:t>
            </a:r>
            <a:r>
              <a:rPr lang="ko-KR" altLang="en-US" dirty="0"/>
              <a:t>수식</a:t>
            </a:r>
            <a:r>
              <a:rPr lang="en-US" altLang="ko-KR" dirty="0"/>
              <a:t>1, </a:t>
            </a:r>
            <a:r>
              <a:rPr lang="ko-KR" altLang="en-US" dirty="0"/>
              <a:t>수식</a:t>
            </a:r>
            <a:r>
              <a:rPr lang="en-US" altLang="ko-KR" dirty="0"/>
              <a:t>2)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조건의 결과가 참이면 수식</a:t>
            </a:r>
            <a:r>
              <a:rPr lang="en-US" altLang="ko-KR" dirty="0"/>
              <a:t>1</a:t>
            </a:r>
            <a:r>
              <a:rPr lang="ko-KR" altLang="en-US" dirty="0"/>
              <a:t>을 반환하고</a:t>
            </a:r>
            <a:r>
              <a:rPr lang="en-US" altLang="ko-KR" dirty="0"/>
              <a:t>, </a:t>
            </a:r>
            <a:r>
              <a:rPr lang="ko-KR" altLang="en-US" dirty="0"/>
              <a:t>그렇지 않으면 수식</a:t>
            </a:r>
            <a:r>
              <a:rPr lang="en-US" altLang="ko-KR" dirty="0"/>
              <a:t>2</a:t>
            </a:r>
            <a:r>
              <a:rPr lang="ko-KR" altLang="en-US" dirty="0"/>
              <a:t>의 결과를 반환함</a:t>
            </a:r>
            <a:endParaRPr lang="en-US" altLang="ko-KR" dirty="0"/>
          </a:p>
          <a:p>
            <a:pPr lvl="1"/>
            <a:r>
              <a:rPr lang="ko-KR" altLang="en-US" dirty="0"/>
              <a:t>형식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sz="1000" dirty="0"/>
          </a:p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[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예제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3-23]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12,500</a:t>
            </a:r>
            <a:r>
              <a:rPr lang="ko-KR" altLang="en-US" dirty="0" err="1">
                <a:solidFill>
                  <a:schemeClr val="tx1"/>
                </a:solidFill>
              </a:rPr>
              <a:t>원짜리</a:t>
            </a:r>
            <a:r>
              <a:rPr lang="ko-KR" altLang="en-US" dirty="0">
                <a:solidFill>
                  <a:schemeClr val="tx1"/>
                </a:solidFill>
              </a:rPr>
              <a:t> 제품을 </a:t>
            </a:r>
            <a:r>
              <a:rPr lang="en-US" altLang="ko-KR" dirty="0">
                <a:solidFill>
                  <a:schemeClr val="tx1"/>
                </a:solidFill>
              </a:rPr>
              <a:t>450</a:t>
            </a:r>
            <a:r>
              <a:rPr lang="ko-KR" altLang="en-US" dirty="0">
                <a:solidFill>
                  <a:schemeClr val="tx1"/>
                </a:solidFill>
              </a:rPr>
              <a:t>개 이상 주문한 금액이 </a:t>
            </a:r>
            <a:r>
              <a:rPr lang="en-US" altLang="ko-KR" dirty="0">
                <a:solidFill>
                  <a:schemeClr val="tx1"/>
                </a:solidFill>
              </a:rPr>
              <a:t>5,000,000</a:t>
            </a:r>
            <a:r>
              <a:rPr lang="ko-KR" altLang="en-US" dirty="0">
                <a:solidFill>
                  <a:schemeClr val="tx1"/>
                </a:solidFill>
              </a:rPr>
              <a:t>원 이상이면 ‘초과달성’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미만이면 ‘</a:t>
            </a:r>
            <a:r>
              <a:rPr lang="ko-KR" altLang="en-US" dirty="0" err="1">
                <a:solidFill>
                  <a:schemeClr val="tx1"/>
                </a:solidFill>
              </a:rPr>
              <a:t>미달성’이라고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ko-KR" altLang="en-US" dirty="0" err="1">
                <a:solidFill>
                  <a:schemeClr val="tx1"/>
                </a:solidFill>
              </a:rPr>
              <a:t>보이시오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5147A8A-F351-F426-56FF-8B50FA1D3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254" y="3765861"/>
            <a:ext cx="6433490" cy="364970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7645A0B9-8EE1-4C8A-52BF-B783840A41E3}"/>
              </a:ext>
            </a:extLst>
          </p:cNvPr>
          <p:cNvGrpSpPr/>
          <p:nvPr/>
        </p:nvGrpSpPr>
        <p:grpSpPr>
          <a:xfrm>
            <a:off x="1014407" y="5139190"/>
            <a:ext cx="7115185" cy="724215"/>
            <a:chOff x="971600" y="5364215"/>
            <a:chExt cx="7115185" cy="724215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074287D0-D74B-0F4A-B7BA-A7C746701B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71600" y="5364215"/>
              <a:ext cx="4250826" cy="450845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4F12EE09-9409-ADAB-8877-2D39EC194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26082" y="5364215"/>
              <a:ext cx="2660703" cy="7242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6505457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29EE7F-2421-BBD8-14CE-8B15B9291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제어 흐름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13BC58-9EC1-2032-E76B-2282115F2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IFNULL( ), NULLIF( )</a:t>
            </a:r>
          </a:p>
          <a:p>
            <a:pPr lvl="1"/>
            <a:r>
              <a:rPr lang="en-US" altLang="ko-KR" dirty="0"/>
              <a:t>NULL</a:t>
            </a:r>
            <a:r>
              <a:rPr lang="ko-KR" altLang="en-US" dirty="0"/>
              <a:t>과 관련된 제어 흐름 함수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IFNULL( 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수식</a:t>
            </a:r>
            <a:r>
              <a:rPr lang="en-US" altLang="ko-KR" dirty="0"/>
              <a:t>1</a:t>
            </a:r>
            <a:r>
              <a:rPr lang="ko-KR" altLang="en-US" dirty="0"/>
              <a:t>이 </a:t>
            </a:r>
            <a:r>
              <a:rPr lang="en-US" altLang="ko-KR" dirty="0"/>
              <a:t>NULL</a:t>
            </a:r>
            <a:r>
              <a:rPr lang="ko-KR" altLang="en-US" dirty="0"/>
              <a:t>이 아니면 수식</a:t>
            </a:r>
            <a:r>
              <a:rPr lang="en-US" altLang="ko-KR" dirty="0"/>
              <a:t>1</a:t>
            </a:r>
            <a:r>
              <a:rPr lang="ko-KR" altLang="en-US" dirty="0"/>
              <a:t>의 값을 반환하고</a:t>
            </a:r>
            <a:r>
              <a:rPr lang="en-US" altLang="ko-KR" dirty="0"/>
              <a:t>, NULL</a:t>
            </a:r>
            <a:r>
              <a:rPr lang="ko-KR" altLang="en-US" dirty="0"/>
              <a:t>이면 수식</a:t>
            </a:r>
            <a:r>
              <a:rPr lang="en-US" altLang="ko-KR" dirty="0"/>
              <a:t>2</a:t>
            </a:r>
            <a:r>
              <a:rPr lang="ko-KR" altLang="en-US" dirty="0"/>
              <a:t>의 값을 반환함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NULLIF( 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두 수식 값을 비교하여 값이 같으면 </a:t>
            </a:r>
            <a:r>
              <a:rPr lang="en-US" altLang="ko-KR" dirty="0"/>
              <a:t>NULL</a:t>
            </a:r>
            <a:r>
              <a:rPr lang="ko-KR" altLang="en-US" dirty="0"/>
              <a:t>을 반환하고</a:t>
            </a:r>
            <a:r>
              <a:rPr lang="en-US" altLang="ko-KR" dirty="0"/>
              <a:t>, </a:t>
            </a:r>
            <a:r>
              <a:rPr lang="ko-KR" altLang="en-US" dirty="0"/>
              <a:t>값이 다르면 수식</a:t>
            </a:r>
            <a:r>
              <a:rPr lang="en-US" altLang="ko-KR" dirty="0"/>
              <a:t>1</a:t>
            </a:r>
            <a:r>
              <a:rPr lang="ko-KR" altLang="en-US" dirty="0"/>
              <a:t>의 값을 반환함</a:t>
            </a:r>
            <a:endParaRPr lang="en-US" altLang="ko-KR" dirty="0"/>
          </a:p>
          <a:p>
            <a:pPr lvl="1"/>
            <a:r>
              <a:rPr lang="ko-KR" altLang="en-US" dirty="0"/>
              <a:t>형식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DBDB00C-17A7-E449-9582-8AE65FCCF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42" y="3519010"/>
            <a:ext cx="6462115" cy="579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91685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29EE7F-2421-BBD8-14CE-8B15B9291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제어 흐름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13BC58-9EC1-2032-E76B-2282115F2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[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예제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3-24]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IFNULL( )</a:t>
            </a:r>
            <a:r>
              <a:rPr lang="ko-KR" altLang="en-US" dirty="0">
                <a:solidFill>
                  <a:schemeClr val="tx1"/>
                </a:solidFill>
              </a:rPr>
              <a:t>의 첫 매개변수 값이 </a:t>
            </a:r>
            <a:r>
              <a:rPr lang="en-US" altLang="ko-KR" dirty="0">
                <a:solidFill>
                  <a:schemeClr val="tx1"/>
                </a:solidFill>
              </a:rPr>
              <a:t>NULL</a:t>
            </a:r>
            <a:r>
              <a:rPr lang="ko-KR" altLang="en-US" dirty="0">
                <a:solidFill>
                  <a:schemeClr val="tx1"/>
                </a:solidFill>
              </a:rPr>
              <a:t>인지 여부에 따라 어떻게 결과가 다르게 나오는지 </a:t>
            </a:r>
            <a:r>
              <a:rPr lang="ko-KR" altLang="en-US" dirty="0" err="1">
                <a:solidFill>
                  <a:schemeClr val="tx1"/>
                </a:solidFill>
              </a:rPr>
              <a:t>확인하시오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[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예제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3-25]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NULLIF( )</a:t>
            </a:r>
            <a:r>
              <a:rPr lang="ko-KR" altLang="en-US" dirty="0">
                <a:solidFill>
                  <a:schemeClr val="tx1"/>
                </a:solidFill>
              </a:rPr>
              <a:t>을 사용하여 두 결과를 </a:t>
            </a:r>
            <a:r>
              <a:rPr lang="ko-KR" altLang="en-US" dirty="0" err="1">
                <a:solidFill>
                  <a:schemeClr val="tx1"/>
                </a:solidFill>
              </a:rPr>
              <a:t>비교하시오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9FCDFE2-293A-F19A-401E-EF0BE28AB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208" y="1493785"/>
            <a:ext cx="6483584" cy="94462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66E3918-FB20-BACE-60AC-408DBC8F1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102" y="3157778"/>
            <a:ext cx="6483584" cy="160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711878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C1C06D-7350-A5C7-D31C-B308BFC81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CASE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0EDAA1-40FC-4213-1698-F80866501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CASE</a:t>
            </a:r>
            <a:r>
              <a:rPr lang="ko-KR" altLang="en-US" dirty="0"/>
              <a:t>문</a:t>
            </a:r>
            <a:endParaRPr lang="en-US" altLang="ko-KR" dirty="0"/>
          </a:p>
          <a:p>
            <a:pPr lvl="1"/>
            <a:r>
              <a:rPr lang="ko-KR" altLang="en-US" dirty="0"/>
              <a:t>함수는 아니지만 조건 비교가 여러 개일 때 유용하게 사용할 수 있음</a:t>
            </a:r>
          </a:p>
          <a:p>
            <a:pPr lvl="1"/>
            <a:r>
              <a:rPr lang="en-US" altLang="ko-KR" dirty="0"/>
              <a:t>WHEN </a:t>
            </a:r>
            <a:r>
              <a:rPr lang="ko-KR" altLang="en-US" dirty="0"/>
              <a:t>조건</a:t>
            </a:r>
            <a:r>
              <a:rPr lang="en-US" altLang="ko-KR" dirty="0"/>
              <a:t>1 THEN </a:t>
            </a:r>
            <a:r>
              <a:rPr lang="ko-KR" altLang="en-US" dirty="0"/>
              <a:t>값</a:t>
            </a:r>
            <a:r>
              <a:rPr lang="en-US" altLang="ko-KR" dirty="0"/>
              <a:t>1 WHEN </a:t>
            </a:r>
            <a:r>
              <a:rPr lang="ko-KR" altLang="en-US" dirty="0"/>
              <a:t>조건</a:t>
            </a:r>
            <a:r>
              <a:rPr lang="en-US" altLang="ko-KR" dirty="0"/>
              <a:t>2 THEN </a:t>
            </a:r>
            <a:r>
              <a:rPr lang="ko-KR" altLang="en-US" dirty="0"/>
              <a:t>값</a:t>
            </a:r>
            <a:r>
              <a:rPr lang="en-US" altLang="ko-KR" dirty="0"/>
              <a:t>2...</a:t>
            </a:r>
            <a:r>
              <a:rPr lang="ko-KR" altLang="en-US" dirty="0"/>
              <a:t> </a:t>
            </a:r>
            <a:endParaRPr lang="en-US" altLang="ko-KR" dirty="0"/>
          </a:p>
          <a:p>
            <a:pPr lvl="2"/>
            <a:r>
              <a:rPr lang="ko-KR" altLang="en-US" dirty="0"/>
              <a:t>모든 조건을 만족하지 않으면 </a:t>
            </a:r>
            <a:r>
              <a:rPr lang="en-US" altLang="ko-KR" dirty="0"/>
              <a:t>ELSE </a:t>
            </a:r>
            <a:r>
              <a:rPr lang="ko-KR" altLang="en-US" dirty="0"/>
              <a:t>다음에 값을 </a:t>
            </a:r>
            <a:r>
              <a:rPr lang="ko-KR" altLang="en-US" dirty="0" err="1"/>
              <a:t>넣어줌</a:t>
            </a:r>
            <a:endParaRPr lang="en-US" altLang="ko-KR" dirty="0"/>
          </a:p>
          <a:p>
            <a:pPr lvl="2"/>
            <a:r>
              <a:rPr lang="en-US" altLang="ko-KR" dirty="0"/>
              <a:t>CASE</a:t>
            </a:r>
            <a:r>
              <a:rPr lang="ko-KR" altLang="en-US" dirty="0"/>
              <a:t>문은 </a:t>
            </a:r>
            <a:r>
              <a:rPr lang="en-US" altLang="ko-KR" dirty="0"/>
              <a:t>END</a:t>
            </a:r>
            <a:r>
              <a:rPr lang="ko-KR" altLang="en-US" dirty="0"/>
              <a:t>로 마무리되어야 함</a:t>
            </a:r>
            <a:endParaRPr lang="en-US" altLang="ko-KR" dirty="0"/>
          </a:p>
          <a:p>
            <a:pPr lvl="2"/>
            <a:endParaRPr lang="en-US" altLang="ko-KR" dirty="0"/>
          </a:p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[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예제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3-26]</a:t>
            </a:r>
            <a:r>
              <a:rPr lang="ko-KR" altLang="en-US" dirty="0">
                <a:solidFill>
                  <a:schemeClr val="tx1"/>
                </a:solidFill>
              </a:rPr>
              <a:t> 주문 금액이 </a:t>
            </a:r>
            <a:r>
              <a:rPr lang="en-US" altLang="ko-KR" dirty="0">
                <a:solidFill>
                  <a:schemeClr val="tx1"/>
                </a:solidFill>
              </a:rPr>
              <a:t>5,000,000</a:t>
            </a:r>
            <a:r>
              <a:rPr lang="ko-KR" altLang="en-US" dirty="0">
                <a:solidFill>
                  <a:schemeClr val="tx1"/>
                </a:solidFill>
              </a:rPr>
              <a:t>원 이상이면 ‘초과달성’</a:t>
            </a:r>
            <a:r>
              <a:rPr lang="en-US" altLang="ko-KR" dirty="0">
                <a:solidFill>
                  <a:schemeClr val="tx1"/>
                </a:solidFill>
              </a:rPr>
              <a:t>, 4,000,000</a:t>
            </a:r>
            <a:r>
              <a:rPr lang="ko-KR" altLang="en-US" dirty="0">
                <a:solidFill>
                  <a:schemeClr val="tx1"/>
                </a:solidFill>
              </a:rPr>
              <a:t>원 이상이면 ‘달성’ 그 나머지는 ‘</a:t>
            </a:r>
            <a:r>
              <a:rPr lang="ko-KR" altLang="en-US" dirty="0" err="1">
                <a:solidFill>
                  <a:schemeClr val="tx1"/>
                </a:solidFill>
              </a:rPr>
              <a:t>미달성’이라고</a:t>
            </a:r>
            <a:r>
              <a:rPr lang="ko-KR" altLang="en-US" dirty="0">
                <a:solidFill>
                  <a:schemeClr val="tx1"/>
                </a:solidFill>
              </a:rPr>
              <a:t> 할 때</a:t>
            </a:r>
            <a:r>
              <a:rPr lang="en-US" altLang="ko-KR" dirty="0">
                <a:solidFill>
                  <a:schemeClr val="tx1"/>
                </a:solidFill>
              </a:rPr>
              <a:t>, 12,500</a:t>
            </a:r>
            <a:r>
              <a:rPr lang="ko-KR" altLang="en-US" dirty="0" err="1">
                <a:solidFill>
                  <a:schemeClr val="tx1"/>
                </a:solidFill>
              </a:rPr>
              <a:t>원짜리</a:t>
            </a:r>
            <a:r>
              <a:rPr lang="ko-KR" altLang="en-US" dirty="0">
                <a:solidFill>
                  <a:schemeClr val="tx1"/>
                </a:solidFill>
              </a:rPr>
              <a:t> 제품을 </a:t>
            </a:r>
            <a:r>
              <a:rPr lang="en-US" altLang="ko-KR" dirty="0">
                <a:solidFill>
                  <a:schemeClr val="tx1"/>
                </a:solidFill>
              </a:rPr>
              <a:t>450</a:t>
            </a:r>
            <a:r>
              <a:rPr lang="ko-KR" altLang="en-US" dirty="0">
                <a:solidFill>
                  <a:schemeClr val="tx1"/>
                </a:solidFill>
              </a:rPr>
              <a:t>개 이상 주문했다면 어디에 해당하는지 </a:t>
            </a:r>
            <a:r>
              <a:rPr lang="ko-KR" altLang="en-US" dirty="0" err="1">
                <a:solidFill>
                  <a:schemeClr val="tx1"/>
                </a:solidFill>
              </a:rPr>
              <a:t>보이시오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/>
          </a:p>
          <a:p>
            <a:endParaRPr lang="ko-KR" altLang="en-US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095998C-822E-746F-1AFE-4E77FC00E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365" y="4116479"/>
            <a:ext cx="6469271" cy="2282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686527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C1C06D-7350-A5C7-D31C-B308BFC81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CASE</a:t>
            </a:r>
            <a:r>
              <a:rPr lang="ko-KR" altLang="en-US" dirty="0"/>
              <a:t>문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2CA5EB94-2077-0610-1E99-84E3FB0D7B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0992" y="1907738"/>
            <a:ext cx="6222379" cy="3358436"/>
          </a:xfrm>
        </p:spPr>
      </p:pic>
    </p:spTree>
    <p:extLst>
      <p:ext uri="{BB962C8B-B14F-4D97-AF65-F5344CB8AC3E}">
        <p14:creationId xmlns:p14="http://schemas.microsoft.com/office/powerpoint/2010/main" val="3593102935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701570" y="2948249"/>
            <a:ext cx="7902878" cy="961501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4000" dirty="0">
                <a:solidFill>
                  <a:srgbClr val="0082C6"/>
                </a:solidFill>
              </a:rPr>
              <a:t>점검문제</a:t>
            </a:r>
            <a:endParaRPr lang="ko-KR" altLang="en-US" sz="4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점검문제</a:t>
            </a:r>
            <a:endParaRPr lang="ko-KR" altLang="en-US" dirty="0">
              <a:solidFill>
                <a:srgbClr val="0082C6"/>
              </a:solidFill>
            </a:endParaRPr>
          </a:p>
        </p:txBody>
      </p:sp>
      <p:pic>
        <p:nvPicPr>
          <p:cNvPr id="3" name="내용 개체 틀 2">
            <a:extLst>
              <a:ext uri="{FF2B5EF4-FFF2-40B4-BE49-F238E27FC236}">
                <a16:creationId xmlns:a16="http://schemas.microsoft.com/office/drawing/2014/main" id="{C414D1DF-93AF-F88E-A1E1-F3830F4051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9873" y="1956042"/>
            <a:ext cx="6844617" cy="3261829"/>
          </a:xfrm>
        </p:spPr>
      </p:pic>
    </p:spTree>
    <p:extLst>
      <p:ext uri="{BB962C8B-B14F-4D97-AF65-F5344CB8AC3E}">
        <p14:creationId xmlns:p14="http://schemas.microsoft.com/office/powerpoint/2010/main" val="338501209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점검문제</a:t>
            </a:r>
            <a:endParaRPr lang="ko-KR" altLang="en-US" dirty="0">
              <a:solidFill>
                <a:srgbClr val="0082C6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FFA60D2-83D0-5AE6-F62D-A054CB2D4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317" y="3125664"/>
            <a:ext cx="5557562" cy="1267376"/>
          </a:xfrm>
          <a:prstGeom prst="rect">
            <a:avLst/>
          </a:prstGeom>
        </p:spPr>
      </p:pic>
      <p:pic>
        <p:nvPicPr>
          <p:cNvPr id="16" name="내용 개체 틀 6">
            <a:extLst>
              <a:ext uri="{FF2B5EF4-FFF2-40B4-BE49-F238E27FC236}">
                <a16:creationId xmlns:a16="http://schemas.microsoft.com/office/drawing/2014/main" id="{F3A0440F-A108-D19F-7082-71073A34DE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89259" y="635373"/>
            <a:ext cx="6844617" cy="2490291"/>
          </a:xfr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0B632F8-D6AA-F7EC-8337-4EC7C5688C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2317" y="4509120"/>
            <a:ext cx="6519365" cy="218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847408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점검문제</a:t>
            </a:r>
            <a:endParaRPr lang="ko-KR" altLang="en-US" dirty="0">
              <a:solidFill>
                <a:srgbClr val="0082C6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DB175FC-6981-17EA-AE81-1E48236C5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415" y="731562"/>
            <a:ext cx="7133169" cy="566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237289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B0BA3A0-E2EA-2103-9338-A1DFCC9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점검문제</a:t>
            </a:r>
            <a:endParaRPr lang="ko-KR" altLang="en-US" dirty="0">
              <a:solidFill>
                <a:srgbClr val="0082C6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B46A519E-1CBA-47A8-E55C-04E98E3BDD42}"/>
              </a:ext>
            </a:extLst>
          </p:cNvPr>
          <p:cNvGrpSpPr/>
          <p:nvPr/>
        </p:nvGrpSpPr>
        <p:grpSpPr>
          <a:xfrm>
            <a:off x="956212" y="1094345"/>
            <a:ext cx="7257894" cy="4779663"/>
            <a:chOff x="956212" y="1094345"/>
            <a:chExt cx="7257894" cy="4779663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0609F9CE-017F-9635-F446-9F39A45BCA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6212" y="1094345"/>
              <a:ext cx="7257894" cy="2149029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630A4982-B597-D1F4-31BA-EDC534A6EA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7380" y="3827313"/>
              <a:ext cx="7155558" cy="20466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83983308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541454"/>
      </p:ext>
    </p:extLst>
  </p:cSld>
  <p:clrMapOvr>
    <a:masterClrMapping/>
  </p:clrMapOvr>
</p:sld>
</file>

<file path=ppt/theme/theme1.xml><?xml version="1.0" encoding="utf-8"?>
<a:theme xmlns:a="http://schemas.openxmlformats.org/drawingml/2006/main" name="ch01_JAVA 들여다보기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1527</TotalTime>
  <Words>1861</Words>
  <Application>Microsoft Office PowerPoint</Application>
  <PresentationFormat>화면 슬라이드 쇼(4:3)</PresentationFormat>
  <Paragraphs>259</Paragraphs>
  <Slides>53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53</vt:i4>
      </vt:variant>
    </vt:vector>
  </HeadingPairs>
  <TitlesOfParts>
    <vt:vector size="60" baseType="lpstr">
      <vt:lpstr>HY견고딕</vt:lpstr>
      <vt:lpstr>맑은 고딕</vt:lpstr>
      <vt:lpstr>한컴바탕</vt:lpstr>
      <vt:lpstr>Arial</vt:lpstr>
      <vt:lpstr>Arial Black</vt:lpstr>
      <vt:lpstr>Wingdings</vt:lpstr>
      <vt:lpstr>ch01_JAVA 들여다보기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1. 함수의 개념</vt:lpstr>
      <vt:lpstr>2. SQL 함수의 개념과 종류</vt:lpstr>
      <vt:lpstr>2. SQL 함수의 개념과 종류</vt:lpstr>
      <vt:lpstr>PowerPoint 프레젠테이션</vt:lpstr>
      <vt:lpstr>1. 문자형 함수</vt:lpstr>
      <vt:lpstr>1. 문자형 함수</vt:lpstr>
      <vt:lpstr>1. 문자형 함수</vt:lpstr>
      <vt:lpstr>1. 문자형 함수</vt:lpstr>
      <vt:lpstr>1. 문자형 함수</vt:lpstr>
      <vt:lpstr>1. 문자형 함수</vt:lpstr>
      <vt:lpstr>1. 문자형 함수</vt:lpstr>
      <vt:lpstr>1. 문자형 함수</vt:lpstr>
      <vt:lpstr>1. 문자형 함수</vt:lpstr>
      <vt:lpstr>1. 문자형 함수</vt:lpstr>
      <vt:lpstr>1. 문자형 함수</vt:lpstr>
      <vt:lpstr>1. 문자형 함수</vt:lpstr>
      <vt:lpstr>1. 문자형 함수</vt:lpstr>
      <vt:lpstr>1. 문자형 함수</vt:lpstr>
      <vt:lpstr>1. 문자형 함수</vt:lpstr>
      <vt:lpstr>2. 숫자형 함수</vt:lpstr>
      <vt:lpstr>2. 숫자형 함수</vt:lpstr>
      <vt:lpstr>2. 숫자형 함수</vt:lpstr>
      <vt:lpstr>2. 숫자형 함수</vt:lpstr>
      <vt:lpstr>2. 숫자형 함수</vt:lpstr>
      <vt:lpstr>2. 숫자형 함수</vt:lpstr>
      <vt:lpstr>3. 날짜/시간형 함수</vt:lpstr>
      <vt:lpstr>3. 날짜/시간형 함수</vt:lpstr>
      <vt:lpstr>3. 날짜/시간형 함수</vt:lpstr>
      <vt:lpstr>3. 날짜/시간형 함수</vt:lpstr>
      <vt:lpstr>3. 날짜/시간형 함수</vt:lpstr>
      <vt:lpstr>3. 날짜/시간형 함수</vt:lpstr>
      <vt:lpstr>3. 날짜/시간형 함수</vt:lpstr>
      <vt:lpstr>3. 날짜/시간형 함수</vt:lpstr>
      <vt:lpstr>PowerPoint 프레젠테이션</vt:lpstr>
      <vt:lpstr>1. 형 변환 함수</vt:lpstr>
      <vt:lpstr>1. 형 변환 함수</vt:lpstr>
      <vt:lpstr>2. 제어 흐름 함수</vt:lpstr>
      <vt:lpstr>2. 제어 흐름 함수</vt:lpstr>
      <vt:lpstr>2. 제어 흐름 함수</vt:lpstr>
      <vt:lpstr>3. CASE문</vt:lpstr>
      <vt:lpstr>3. CASE문</vt:lpstr>
      <vt:lpstr>PowerPoint 프레젠테이션</vt:lpstr>
      <vt:lpstr>점검문제</vt:lpstr>
      <vt:lpstr>점검문제</vt:lpstr>
      <vt:lpstr>점검문제</vt:lpstr>
      <vt:lpstr>점검문제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1장. 유닉스 개요 및 기본 사용법</dc:title>
  <dc:creator>한빛아카데미(주)</dc:creator>
  <cp:lastModifiedBy>Kim Sungmu</cp:lastModifiedBy>
  <cp:revision>2278</cp:revision>
  <dcterms:created xsi:type="dcterms:W3CDTF">2012-07-23T02:34:37Z</dcterms:created>
  <dcterms:modified xsi:type="dcterms:W3CDTF">2024-03-08T05:51:19Z</dcterms:modified>
  <cp:version>1000.0000.01</cp:version>
</cp:coreProperties>
</file>